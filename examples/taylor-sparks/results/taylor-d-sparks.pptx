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Subject and cohort are measured at the same career year. A position is a location in a distribution, not a judgement about a career.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figure is a quartile across cohort members. The middle half of the cohort sat between the first and the last column.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Led means last author or flagged corresponding. Corresponding flags are missing for many journal-years, so last position carries most of the weight.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170432"/>
            <a:ext cx="11057839" cy="219456"/>
          </a:xfrm>
          <a:prstGeom prst="rect">
            <a:avLst/>
          </a:prstGeom>
          <a:noFill/>
        </p:spPr>
        <p:txBody>
          <a:bodyPr wrap="square" lIns="0" rIns="0" tIns="0" bIns="0">
            <a:spAutoFit/>
          </a:bodyPr>
          <a:lstStyle/>
          <a:p>
            <a:pPr algn="l">
              <a:lnSpc>
                <a:spcPct val="125000"/>
              </a:lnSpc>
              <a:spcAft>
                <a:spcPts val="0"/>
              </a:spcAft>
            </a:pPr>
            <a:r>
              <a:rPr sz="1000" b="1">
                <a:solidFill>
                  <a:srgbClr val="C1440E"/>
                </a:solidFill>
                <a:latin typeface="DejaVu Sans"/>
              </a:rPr>
              <a:t>PUBLICATION NORMS THROUGH THE TENURE CLOCK</a:t>
            </a:r>
          </a:p>
        </p:txBody>
      </p:sp>
      <p:sp>
        <p:nvSpPr>
          <p:cNvPr id="4" name="TextBox 3"/>
          <p:cNvSpPr txBox="1"/>
          <p:nvPr/>
        </p:nvSpPr>
        <p:spPr>
          <a:xfrm>
            <a:off x="566928" y="1517904"/>
            <a:ext cx="11057839" cy="822960"/>
          </a:xfrm>
          <a:prstGeom prst="rect">
            <a:avLst/>
          </a:prstGeom>
          <a:noFill/>
        </p:spPr>
        <p:txBody>
          <a:bodyPr wrap="square" lIns="0" rIns="0" tIns="0" bIns="0">
            <a:spAutoFit/>
          </a:bodyPr>
          <a:lstStyle/>
          <a:p>
            <a:pPr algn="l">
              <a:lnSpc>
                <a:spcPct val="125000"/>
              </a:lnSpc>
              <a:spcAft>
                <a:spcPts val="0"/>
              </a:spcAft>
            </a:pPr>
            <a:r>
              <a:rPr sz="4000" b="1">
                <a:solidFill>
                  <a:srgbClr val="1A1A1A"/>
                </a:solidFill>
                <a:latin typeface="DejaVu Sans"/>
              </a:rPr>
              <a:t>Taylor D. Sparks</a:t>
            </a:r>
          </a:p>
        </p:txBody>
      </p:sp>
      <p:sp>
        <p:nvSpPr>
          <p:cNvPr id="5" name="TextBox 4"/>
          <p:cNvSpPr txBox="1"/>
          <p:nvPr/>
        </p:nvSpPr>
        <p:spPr>
          <a:xfrm>
            <a:off x="566928" y="2359152"/>
            <a:ext cx="11057839" cy="365760"/>
          </a:xfrm>
          <a:prstGeom prst="rect">
            <a:avLst/>
          </a:prstGeom>
          <a:noFill/>
        </p:spPr>
        <p:txBody>
          <a:bodyPr wrap="square" lIns="0" rIns="0" tIns="0" bIns="0">
            <a:spAutoFit/>
          </a:bodyPr>
          <a:lstStyle/>
          <a:p>
            <a:pPr algn="l">
              <a:lnSpc>
                <a:spcPct val="125000"/>
              </a:lnSpc>
              <a:spcAft>
                <a:spcPts val="0"/>
              </a:spcAft>
            </a:pPr>
            <a:r>
              <a:rPr sz="1600" b="0">
                <a:solidFill>
                  <a:srgbClr val="6A6A6A"/>
                </a:solidFill>
                <a:latin typeface="DejaVu Sans"/>
              </a:rPr>
              <a:t>materials chemistry  |  University of Utah</a:t>
            </a:r>
          </a:p>
        </p:txBody>
      </p:sp>
      <p:sp>
        <p:nvSpPr>
          <p:cNvPr id="6" name="TextBox 5"/>
          <p:cNvSpPr txBox="1"/>
          <p:nvPr/>
        </p:nvSpPr>
        <p:spPr>
          <a:xfrm>
            <a:off x="566928" y="2706624"/>
            <a:ext cx="11057839" cy="292608"/>
          </a:xfrm>
          <a:prstGeom prst="rect">
            <a:avLst/>
          </a:prstGeom>
          <a:noFill/>
        </p:spPr>
        <p:txBody>
          <a:bodyPr wrap="square" lIns="0" rIns="0" tIns="0" bIns="0">
            <a:spAutoFit/>
          </a:bodyPr>
          <a:lstStyle/>
          <a:p>
            <a:pPr algn="l">
              <a:lnSpc>
                <a:spcPct val="125000"/>
              </a:lnSpc>
              <a:spcAft>
                <a:spcPts val="0"/>
              </a:spcAft>
            </a:pPr>
            <a:r>
              <a:rPr sz="1300" b="0">
                <a:solidFill>
                  <a:srgbClr val="1A1A1A"/>
                </a:solidFill>
                <a:latin typeface="DejaVu Sans"/>
              </a:rPr>
              <a:t>Career year 14, compared against the cohort at career year 6</a:t>
            </a:r>
          </a:p>
        </p:txBody>
      </p:sp>
      <p:sp>
        <p:nvSpPr>
          <p:cNvPr id="7" name="Rectangle 6"/>
          <p:cNvSpPr/>
          <p:nvPr/>
        </p:nvSpPr>
        <p:spPr>
          <a:xfrm>
            <a:off x="566928" y="3108960"/>
            <a:ext cx="1463040" cy="36576"/>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3438144"/>
            <a:ext cx="2627299" cy="1024128"/>
          </a:xfrm>
          <a:prstGeom prst="roundRect">
            <a:avLst>
              <a:gd name="adj" fmla="val 6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3566160"/>
            <a:ext cx="2298115" cy="457200"/>
          </a:xfrm>
          <a:prstGeom prst="rect">
            <a:avLst/>
          </a:prstGeom>
          <a:noFill/>
        </p:spPr>
        <p:txBody>
          <a:bodyPr wrap="square" lIns="0" rIns="0" tIns="0" bIns="0">
            <a:spAutoFit/>
          </a:bodyPr>
          <a:lstStyle/>
          <a:p>
            <a:pPr algn="l">
              <a:lnSpc>
                <a:spcPct val="125000"/>
              </a:lnSpc>
              <a:spcAft>
                <a:spcPts val="0"/>
              </a:spcAft>
            </a:pPr>
            <a:r>
              <a:rPr sz="2300" b="1">
                <a:solidFill>
                  <a:srgbClr val="1A1A1A"/>
                </a:solidFill>
                <a:latin typeface="DejaVu Sans"/>
              </a:rPr>
              <a:t>1,091</a:t>
            </a:r>
          </a:p>
        </p:txBody>
      </p:sp>
      <p:sp>
        <p:nvSpPr>
          <p:cNvPr id="10" name="TextBox 9"/>
          <p:cNvSpPr txBox="1"/>
          <p:nvPr/>
        </p:nvSpPr>
        <p:spPr>
          <a:xfrm>
            <a:off x="768096" y="4041648"/>
            <a:ext cx="2298115" cy="384048"/>
          </a:xfrm>
          <a:prstGeom prst="rect">
            <a:avLst/>
          </a:prstGeom>
          <a:noFill/>
        </p:spPr>
        <p:txBody>
          <a:bodyPr wrap="square" lIns="0" rIns="0" tIns="0" bIns="0">
            <a:spAutoFit/>
          </a:bodyPr>
          <a:lstStyle/>
          <a:p>
            <a:pPr algn="l">
              <a:lnSpc>
                <a:spcPct val="115000"/>
              </a:lnSpc>
              <a:spcAft>
                <a:spcPts val="0"/>
              </a:spcAft>
            </a:pPr>
            <a:r>
              <a:rPr sz="950" b="0">
                <a:solidFill>
                  <a:srgbClr val="6A6A6A"/>
                </a:solidFill>
                <a:latin typeface="DejaVu Sans"/>
              </a:rPr>
              <a:t>people in the cohort</a:t>
            </a:r>
          </a:p>
        </p:txBody>
      </p:sp>
      <p:sp>
        <p:nvSpPr>
          <p:cNvPr id="11" name="Rounded Rectangle 10"/>
          <p:cNvSpPr/>
          <p:nvPr/>
        </p:nvSpPr>
        <p:spPr>
          <a:xfrm>
            <a:off x="3377107" y="3438144"/>
            <a:ext cx="2627299" cy="1024128"/>
          </a:xfrm>
          <a:prstGeom prst="roundRect">
            <a:avLst>
              <a:gd name="adj" fmla="val 6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78275" y="3566160"/>
            <a:ext cx="2298115" cy="457200"/>
          </a:xfrm>
          <a:prstGeom prst="rect">
            <a:avLst/>
          </a:prstGeom>
          <a:noFill/>
        </p:spPr>
        <p:txBody>
          <a:bodyPr wrap="square" lIns="0" rIns="0" tIns="0" bIns="0">
            <a:spAutoFit/>
          </a:bodyPr>
          <a:lstStyle/>
          <a:p>
            <a:pPr algn="l">
              <a:lnSpc>
                <a:spcPct val="125000"/>
              </a:lnSpc>
              <a:spcAft>
                <a:spcPts val="0"/>
              </a:spcAft>
            </a:pPr>
            <a:r>
              <a:rPr sz="2300" b="1">
                <a:solidFill>
                  <a:srgbClr val="1A1A1A"/>
                </a:solidFill>
                <a:latin typeface="DejaVu Sans"/>
              </a:rPr>
              <a:t>6</a:t>
            </a:r>
          </a:p>
        </p:txBody>
      </p:sp>
      <p:sp>
        <p:nvSpPr>
          <p:cNvPr id="13" name="TextBox 12"/>
          <p:cNvSpPr txBox="1"/>
          <p:nvPr/>
        </p:nvSpPr>
        <p:spPr>
          <a:xfrm>
            <a:off x="3578275" y="4041648"/>
            <a:ext cx="2298115" cy="384048"/>
          </a:xfrm>
          <a:prstGeom prst="rect">
            <a:avLst/>
          </a:prstGeom>
          <a:noFill/>
        </p:spPr>
        <p:txBody>
          <a:bodyPr wrap="square" lIns="0" rIns="0" tIns="0" bIns="0">
            <a:spAutoFit/>
          </a:bodyPr>
          <a:lstStyle/>
          <a:p>
            <a:pPr algn="l">
              <a:lnSpc>
                <a:spcPct val="115000"/>
              </a:lnSpc>
              <a:spcAft>
                <a:spcPts val="0"/>
              </a:spcAft>
            </a:pPr>
            <a:r>
              <a:rPr sz="950" b="0">
                <a:solidFill>
                  <a:srgbClr val="6A6A6A"/>
                </a:solidFill>
                <a:latin typeface="DejaVu Sans"/>
              </a:rPr>
              <a:t>career year both sides are measured</a:t>
            </a:r>
          </a:p>
        </p:txBody>
      </p:sp>
      <p:sp>
        <p:nvSpPr>
          <p:cNvPr id="14" name="Rounded Rectangle 13"/>
          <p:cNvSpPr/>
          <p:nvPr/>
        </p:nvSpPr>
        <p:spPr>
          <a:xfrm>
            <a:off x="6187286" y="3438144"/>
            <a:ext cx="2627299" cy="1024128"/>
          </a:xfrm>
          <a:prstGeom prst="roundRect">
            <a:avLst>
              <a:gd name="adj" fmla="val 6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8454" y="3566160"/>
            <a:ext cx="2298115" cy="457200"/>
          </a:xfrm>
          <a:prstGeom prst="rect">
            <a:avLst/>
          </a:prstGeom>
          <a:noFill/>
        </p:spPr>
        <p:txBody>
          <a:bodyPr wrap="square" lIns="0" rIns="0" tIns="0" bIns="0">
            <a:spAutoFit/>
          </a:bodyPr>
          <a:lstStyle/>
          <a:p>
            <a:pPr algn="l">
              <a:lnSpc>
                <a:spcPct val="125000"/>
              </a:lnSpc>
              <a:spcAft>
                <a:spcPts val="0"/>
              </a:spcAft>
            </a:pPr>
            <a:r>
              <a:rPr sz="1700" b="1">
                <a:solidFill>
                  <a:srgbClr val="1A1A1A"/>
                </a:solidFill>
                <a:latin typeface="DejaVu Sans"/>
              </a:rPr>
              <a:t>2008 to 2018</a:t>
            </a:r>
          </a:p>
        </p:txBody>
      </p:sp>
      <p:sp>
        <p:nvSpPr>
          <p:cNvPr id="16" name="TextBox 15"/>
          <p:cNvSpPr txBox="1"/>
          <p:nvPr/>
        </p:nvSpPr>
        <p:spPr>
          <a:xfrm>
            <a:off x="6388454" y="4041648"/>
            <a:ext cx="2298115" cy="384048"/>
          </a:xfrm>
          <a:prstGeom prst="rect">
            <a:avLst/>
          </a:prstGeom>
          <a:noFill/>
        </p:spPr>
        <p:txBody>
          <a:bodyPr wrap="square" lIns="0" rIns="0" tIns="0" bIns="0">
            <a:spAutoFit/>
          </a:bodyPr>
          <a:lstStyle/>
          <a:p>
            <a:pPr algn="l">
              <a:lnSpc>
                <a:spcPct val="115000"/>
              </a:lnSpc>
              <a:spcAft>
                <a:spcPts val="0"/>
              </a:spcAft>
            </a:pPr>
            <a:r>
              <a:rPr sz="950" b="0">
                <a:solidFill>
                  <a:srgbClr val="6A6A6A"/>
                </a:solidFill>
                <a:latin typeface="DejaVu Sans"/>
              </a:rPr>
              <a:t>when the cohort started</a:t>
            </a:r>
          </a:p>
        </p:txBody>
      </p:sp>
      <p:sp>
        <p:nvSpPr>
          <p:cNvPr id="17" name="Rounded Rectangle 16"/>
          <p:cNvSpPr/>
          <p:nvPr/>
        </p:nvSpPr>
        <p:spPr>
          <a:xfrm>
            <a:off x="8997465" y="3438144"/>
            <a:ext cx="2627299" cy="1024128"/>
          </a:xfrm>
          <a:prstGeom prst="roundRect">
            <a:avLst>
              <a:gd name="adj" fmla="val 6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98633" y="3566160"/>
            <a:ext cx="2298115" cy="457200"/>
          </a:xfrm>
          <a:prstGeom prst="rect">
            <a:avLst/>
          </a:prstGeom>
          <a:noFill/>
        </p:spPr>
        <p:txBody>
          <a:bodyPr wrap="square" lIns="0" rIns="0" tIns="0" bIns="0">
            <a:spAutoFit/>
          </a:bodyPr>
          <a:lstStyle/>
          <a:p>
            <a:pPr algn="l">
              <a:lnSpc>
                <a:spcPct val="125000"/>
              </a:lnSpc>
              <a:spcAft>
                <a:spcPts val="0"/>
              </a:spcAft>
            </a:pPr>
            <a:r>
              <a:rPr sz="2300" b="1">
                <a:solidFill>
                  <a:srgbClr val="1A1A1A"/>
                </a:solidFill>
                <a:latin typeface="DejaVu Sans"/>
              </a:rPr>
              <a:t>6</a:t>
            </a:r>
          </a:p>
        </p:txBody>
      </p:sp>
      <p:sp>
        <p:nvSpPr>
          <p:cNvPr id="19" name="TextBox 18"/>
          <p:cNvSpPr txBox="1"/>
          <p:nvPr/>
        </p:nvSpPr>
        <p:spPr>
          <a:xfrm>
            <a:off x="9198633" y="4041648"/>
            <a:ext cx="2298115" cy="384048"/>
          </a:xfrm>
          <a:prstGeom prst="rect">
            <a:avLst/>
          </a:prstGeom>
          <a:noFill/>
        </p:spPr>
        <p:txBody>
          <a:bodyPr wrap="square" lIns="0" rIns="0" tIns="0" bIns="0">
            <a:spAutoFit/>
          </a:bodyPr>
          <a:lstStyle/>
          <a:p>
            <a:pPr algn="l">
              <a:lnSpc>
                <a:spcPct val="115000"/>
              </a:lnSpc>
              <a:spcAft>
                <a:spcPts val="0"/>
              </a:spcAft>
            </a:pPr>
            <a:r>
              <a:rPr sz="950" b="0">
                <a:solidFill>
                  <a:srgbClr val="6A6A6A"/>
                </a:solidFill>
                <a:latin typeface="DejaVu Sans"/>
              </a:rPr>
              <a:t>OpenAlex topics defining the subfield</a:t>
            </a:r>
          </a:p>
        </p:txBody>
      </p:sp>
      <p:sp>
        <p:nvSpPr>
          <p:cNvPr id="20" name="TextBox 19"/>
          <p:cNvSpPr txBox="1"/>
          <p:nvPr/>
        </p:nvSpPr>
        <p:spPr>
          <a:xfrm>
            <a:off x="566928" y="4773168"/>
            <a:ext cx="10058400" cy="548640"/>
          </a:xfrm>
          <a:prstGeom prst="rect">
            <a:avLst/>
          </a:prstGeom>
          <a:noFill/>
        </p:spPr>
        <p:txBody>
          <a:bodyPr wrap="square" lIns="0" rIns="0" tIns="0" bIns="0">
            <a:spAutoFit/>
          </a:bodyPr>
          <a:lstStyle/>
          <a:p>
            <a:pPr algn="l">
              <a:lnSpc>
                <a:spcPct val="125000"/>
              </a:lnSpc>
              <a:spcAft>
                <a:spcPts val="0"/>
              </a:spcAft>
            </a:pPr>
            <a:r>
              <a:rPr sz="1300" b="0">
                <a:solidFill>
                  <a:srgbClr val="1A1A1A"/>
                </a:solidFill>
                <a:latin typeface="DejaVu Sans"/>
              </a:rPr>
              <a:t>These numbers describe what a group of people did. They are not a standard, nobody in the cohort agreed to be measured, and no part of this says what any one career should look like.</a:t>
            </a:r>
          </a:p>
        </p:txBody>
      </p:sp>
      <p:sp>
        <p:nvSpPr>
          <p:cNvPr id="21" name="Rectangle 20"/>
          <p:cNvSpPr/>
          <p:nvPr/>
        </p:nvSpPr>
        <p:spPr>
          <a:xfrm>
            <a:off x="566928" y="6199632"/>
            <a:ext cx="11057839" cy="10972"/>
          </a:xfrm>
          <a:prstGeom prst="rect">
            <a:avLst/>
          </a:prstGeom>
          <a:solidFill>
            <a:srgbClr val="E2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6272784"/>
            <a:ext cx="10972800" cy="274320"/>
          </a:xfrm>
          <a:prstGeom prst="rect">
            <a:avLst/>
          </a:prstGeom>
          <a:noFill/>
        </p:spPr>
        <p:txBody>
          <a:bodyPr wrap="square" lIns="0" rIns="0" tIns="0" bIns="0">
            <a:spAutoFit/>
          </a:bodyPr>
          <a:lstStyle/>
          <a:p>
            <a:pPr algn="l">
              <a:lnSpc>
                <a:spcPct val="125000"/>
              </a:lnSpc>
              <a:spcAft>
                <a:spcPts val="0"/>
              </a:spcAft>
            </a:pPr>
            <a:r>
              <a:rPr sz="850" b="0">
                <a:solidFill>
                  <a:srgbClr val="6A6A6A"/>
                </a:solidFill>
                <a:latin typeface="DejaVu Sans"/>
              </a:rPr>
              <a:t>Generated 2026-08-30 with tenuretrack from OpenAlex data (Priem, Piwowar and Orr, 2022), CC0.  |  Aggregates only: no cohort member is named anywhere in this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01168"/>
          </a:xfrm>
          <a:prstGeom prst="rect">
            <a:avLst/>
          </a:prstGeom>
          <a:noFill/>
        </p:spPr>
        <p:txBody>
          <a:bodyPr wrap="square" lIns="0" rIns="0" tIns="0" bIns="0">
            <a:spAutoFit/>
          </a:bodyPr>
          <a:lstStyle/>
          <a:p>
            <a:pPr algn="l">
              <a:lnSpc>
                <a:spcPct val="125000"/>
              </a:lnSpc>
              <a:spcAft>
                <a:spcPts val="0"/>
              </a:spcAft>
            </a:pPr>
            <a:r>
              <a:rPr sz="900" b="1">
                <a:solidFill>
                  <a:srgbClr val="C1440E"/>
                </a:solidFill>
                <a:latin typeface="DejaVu Sans"/>
              </a:rPr>
              <a:t>1. AGAINST THE COHORT</a:t>
            </a:r>
          </a:p>
        </p:txBody>
      </p:sp>
      <p:sp>
        <p:nvSpPr>
          <p:cNvPr id="3" name="TextBox 2"/>
          <p:cNvSpPr txBox="1"/>
          <p:nvPr/>
        </p:nvSpPr>
        <p:spPr>
          <a:xfrm>
            <a:off x="566928" y="566928"/>
            <a:ext cx="11057839" cy="502920"/>
          </a:xfrm>
          <a:prstGeom prst="rect">
            <a:avLst/>
          </a:prstGeom>
          <a:noFill/>
        </p:spPr>
        <p:txBody>
          <a:bodyPr wrap="square" lIns="0" rIns="0" tIns="0" bIns="0">
            <a:spAutoFit/>
          </a:bodyPr>
          <a:lstStyle/>
          <a:p>
            <a:pPr algn="l">
              <a:lnSpc>
                <a:spcPct val="125000"/>
              </a:lnSpc>
              <a:spcAft>
                <a:spcPts val="0"/>
              </a:spcAft>
            </a:pPr>
            <a:r>
              <a:rPr sz="2500" b="1">
                <a:solidFill>
                  <a:srgbClr val="1A1A1A"/>
                </a:solidFill>
                <a:latin typeface="DejaVu Sans"/>
              </a:rPr>
              <a:t>Where this record sits at year 6</a:t>
            </a:r>
          </a:p>
        </p:txBody>
      </p:sp>
      <p:sp>
        <p:nvSpPr>
          <p:cNvPr id="4" name="Rectangle 3"/>
          <p:cNvSpPr/>
          <p:nvPr/>
        </p:nvSpPr>
        <p:spPr>
          <a:xfrm>
            <a:off x="566928" y="1115568"/>
            <a:ext cx="786384" cy="32004"/>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225296"/>
            <a:ext cx="10424160" cy="457200"/>
          </a:xfrm>
          <a:prstGeom prst="rect">
            <a:avLst/>
          </a:prstGeom>
          <a:noFill/>
        </p:spPr>
        <p:txBody>
          <a:bodyPr wrap="square" lIns="0" rIns="0" tIns="0" bIns="0">
            <a:spAutoFit/>
          </a:bodyPr>
          <a:lstStyle/>
          <a:p>
            <a:pPr algn="l">
              <a:lnSpc>
                <a:spcPct val="125000"/>
              </a:lnSpc>
              <a:spcAft>
                <a:spcPts val="0"/>
              </a:spcAft>
            </a:pPr>
            <a:r>
              <a:rPr sz="1350" b="0">
                <a:solidFill>
                  <a:srgbClr val="6A6A6A"/>
                </a:solidFill>
                <a:latin typeface="DejaVu Sans"/>
              </a:rPr>
              <a:t>The shaded band is the middle half of the cohort. Both sides are counted through career year 6.</a:t>
            </a:r>
          </a:p>
        </p:txBody>
      </p:sp>
      <p:pic>
        <p:nvPicPr>
          <p:cNvPr id="6" name="Picture 5" descr="deck-position.png"/>
          <p:cNvPicPr>
            <a:picLocks noChangeAspect="1"/>
          </p:cNvPicPr>
          <p:nvPr/>
        </p:nvPicPr>
        <p:blipFill>
          <a:blip r:embed="rId2"/>
          <a:stretch>
            <a:fillRect/>
          </a:stretch>
        </p:blipFill>
        <p:spPr>
          <a:xfrm>
            <a:off x="872795" y="1700784"/>
            <a:ext cx="10446105" cy="3950208"/>
          </a:xfrm>
          <a:prstGeom prst="rect">
            <a:avLst/>
          </a:prstGeom>
        </p:spPr>
      </p:pic>
      <p:sp>
        <p:nvSpPr>
          <p:cNvPr id="7" name="TextBox 6"/>
          <p:cNvSpPr txBox="1"/>
          <p:nvPr/>
        </p:nvSpPr>
        <p:spPr>
          <a:xfrm>
            <a:off x="566928" y="5760720"/>
            <a:ext cx="10607040" cy="384048"/>
          </a:xfrm>
          <a:prstGeom prst="rect">
            <a:avLst/>
          </a:prstGeom>
          <a:noFill/>
        </p:spPr>
        <p:txBody>
          <a:bodyPr wrap="square" lIns="0" rIns="0" tIns="0" bIns="0">
            <a:spAutoFit/>
          </a:bodyPr>
          <a:lstStyle/>
          <a:p>
            <a:pPr algn="l">
              <a:lnSpc>
                <a:spcPct val="120000"/>
              </a:lnSpc>
              <a:spcAft>
                <a:spcPts val="0"/>
              </a:spcAft>
            </a:pPr>
            <a:r>
              <a:rPr sz="950" b="0">
                <a:solidFill>
                  <a:srgbClr val="6A6A6A"/>
                </a:solidFill>
                <a:latin typeface="DejaVu Sans"/>
              </a:rPr>
              <a:t>A value past either end of a band is drawn just outside it rather than to scale. Citations carry a count and no position: the cohort's papers here are eight to eighteen years old and Taylor's are at most 6, so the two counts would measure the calendar.</a:t>
            </a:r>
          </a:p>
        </p:txBody>
      </p:sp>
      <p:sp>
        <p:nvSpPr>
          <p:cNvPr id="8" name="Rectangle 7"/>
          <p:cNvSpPr/>
          <p:nvPr/>
        </p:nvSpPr>
        <p:spPr>
          <a:xfrm>
            <a:off x="566928" y="6199632"/>
            <a:ext cx="11057839" cy="10972"/>
          </a:xfrm>
          <a:prstGeom prst="rect">
            <a:avLst/>
          </a:prstGeom>
          <a:solidFill>
            <a:srgbClr val="E2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272784"/>
            <a:ext cx="10424160" cy="274320"/>
          </a:xfrm>
          <a:prstGeom prst="rect">
            <a:avLst/>
          </a:prstGeom>
          <a:noFill/>
        </p:spPr>
        <p:txBody>
          <a:bodyPr wrap="square" lIns="0" rIns="0" tIns="0" bIns="0">
            <a:spAutoFit/>
          </a:bodyPr>
          <a:lstStyle/>
          <a:p>
            <a:pPr algn="l">
              <a:lnSpc>
                <a:spcPct val="125000"/>
              </a:lnSpc>
              <a:spcAft>
                <a:spcPts val="0"/>
              </a:spcAft>
            </a:pPr>
            <a:r>
              <a:rPr sz="850" b="0">
                <a:solidFill>
                  <a:srgbClr val="6A6A6A"/>
                </a:solidFill>
                <a:latin typeface="DejaVu Sans"/>
              </a:rPr>
              <a:t>Taylor D. Sparks  |  materials chemistry  |  cohort of 1,091 at career year 6  |  aggregates only, and a description rather than a standard</a:t>
            </a:r>
          </a:p>
        </p:txBody>
      </p:sp>
      <p:sp>
        <p:nvSpPr>
          <p:cNvPr id="10" name="TextBox 9"/>
          <p:cNvSpPr txBox="1"/>
          <p:nvPr/>
        </p:nvSpPr>
        <p:spPr>
          <a:xfrm>
            <a:off x="11167567" y="6272784"/>
            <a:ext cx="457200" cy="274320"/>
          </a:xfrm>
          <a:prstGeom prst="rect">
            <a:avLst/>
          </a:prstGeom>
          <a:noFill/>
        </p:spPr>
        <p:txBody>
          <a:bodyPr wrap="square" lIns="0" rIns="0" tIns="0" bIns="0">
            <a:spAutoFit/>
          </a:bodyPr>
          <a:lstStyle/>
          <a:p>
            <a:pPr algn="r">
              <a:lnSpc>
                <a:spcPct val="125000"/>
              </a:lnSpc>
              <a:spcAft>
                <a:spcPts val="0"/>
              </a:spcAft>
            </a:pPr>
            <a:r>
              <a:rPr sz="850" b="0">
                <a:solidFill>
                  <a:srgbClr val="6A6A6A"/>
                </a:solidFill>
                <a:latin typeface="DejaVu San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01168"/>
          </a:xfrm>
          <a:prstGeom prst="rect">
            <a:avLst/>
          </a:prstGeom>
          <a:noFill/>
        </p:spPr>
        <p:txBody>
          <a:bodyPr wrap="square" lIns="0" rIns="0" tIns="0" bIns="0">
            <a:spAutoFit/>
          </a:bodyPr>
          <a:lstStyle/>
          <a:p>
            <a:pPr algn="l">
              <a:lnSpc>
                <a:spcPct val="125000"/>
              </a:lnSpc>
              <a:spcAft>
                <a:spcPts val="0"/>
              </a:spcAft>
            </a:pPr>
            <a:r>
              <a:rPr sz="900" b="1">
                <a:solidFill>
                  <a:srgbClr val="C1440E"/>
                </a:solidFill>
                <a:latin typeface="DejaVu Sans"/>
              </a:rPr>
              <a:t>2. ACROSS THE CLOCK</a:t>
            </a:r>
          </a:p>
        </p:txBody>
      </p:sp>
      <p:sp>
        <p:nvSpPr>
          <p:cNvPr id="3" name="TextBox 2"/>
          <p:cNvSpPr txBox="1"/>
          <p:nvPr/>
        </p:nvSpPr>
        <p:spPr>
          <a:xfrm>
            <a:off x="566928" y="566928"/>
            <a:ext cx="11057839" cy="502920"/>
          </a:xfrm>
          <a:prstGeom prst="rect">
            <a:avLst/>
          </a:prstGeom>
          <a:noFill/>
        </p:spPr>
        <p:txBody>
          <a:bodyPr wrap="square" lIns="0" rIns="0" tIns="0" bIns="0">
            <a:spAutoFit/>
          </a:bodyPr>
          <a:lstStyle/>
          <a:p>
            <a:pPr algn="l">
              <a:lnSpc>
                <a:spcPct val="125000"/>
              </a:lnSpc>
              <a:spcAft>
                <a:spcPts val="0"/>
              </a:spcAft>
            </a:pPr>
            <a:r>
              <a:rPr sz="2500" b="1">
                <a:solidFill>
                  <a:srgbClr val="1A1A1A"/>
                </a:solidFill>
                <a:latin typeface="DejaVu Sans"/>
              </a:rPr>
              <a:t>The same cohort, year by year</a:t>
            </a:r>
          </a:p>
        </p:txBody>
      </p:sp>
      <p:sp>
        <p:nvSpPr>
          <p:cNvPr id="4" name="Rectangle 3"/>
          <p:cNvSpPr/>
          <p:nvPr/>
        </p:nvSpPr>
        <p:spPr>
          <a:xfrm>
            <a:off x="566928" y="1115568"/>
            <a:ext cx="786384" cy="32004"/>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225296"/>
            <a:ext cx="10424160" cy="457200"/>
          </a:xfrm>
          <a:prstGeom prst="rect">
            <a:avLst/>
          </a:prstGeom>
          <a:noFill/>
        </p:spPr>
        <p:txBody>
          <a:bodyPr wrap="square" lIns="0" rIns="0" tIns="0" bIns="0">
            <a:spAutoFit/>
          </a:bodyPr>
          <a:lstStyle/>
          <a:p>
            <a:pPr algn="l">
              <a:lnSpc>
                <a:spcPct val="125000"/>
              </a:lnSpc>
              <a:spcAft>
                <a:spcPts val="0"/>
              </a:spcAft>
            </a:pPr>
            <a:r>
              <a:rPr sz="1350" b="0">
                <a:solidFill>
                  <a:srgbClr val="6A6A6A"/>
                </a:solidFill>
                <a:latin typeface="DejaVu Sans"/>
              </a:rPr>
              <a:t>Each panel counts from the start of the appointment through that career year, so a record earlier on the clock has a year to read against.</a:t>
            </a:r>
          </a:p>
        </p:txBody>
      </p:sp>
      <p:pic>
        <p:nvPicPr>
          <p:cNvPr id="6" name="Picture 5" descr="deck-trajectory.png"/>
          <p:cNvPicPr>
            <a:picLocks noChangeAspect="1"/>
          </p:cNvPicPr>
          <p:nvPr/>
        </p:nvPicPr>
        <p:blipFill>
          <a:blip r:embed="rId2"/>
          <a:stretch>
            <a:fillRect/>
          </a:stretch>
        </p:blipFill>
        <p:spPr>
          <a:xfrm>
            <a:off x="705778" y="1719072"/>
            <a:ext cx="10780138" cy="3895344"/>
          </a:xfrm>
          <a:prstGeom prst="rect">
            <a:avLst/>
          </a:prstGeom>
        </p:spPr>
      </p:pic>
      <p:sp>
        <p:nvSpPr>
          <p:cNvPr id="7" name="TextBox 6"/>
          <p:cNvSpPr txBox="1"/>
          <p:nvPr/>
        </p:nvSpPr>
        <p:spPr>
          <a:xfrm>
            <a:off x="566928" y="5760720"/>
            <a:ext cx="10607040" cy="384048"/>
          </a:xfrm>
          <a:prstGeom prst="rect">
            <a:avLst/>
          </a:prstGeom>
          <a:noFill/>
        </p:spPr>
        <p:txBody>
          <a:bodyPr wrap="square" lIns="0" rIns="0" tIns="0" bIns="0">
            <a:spAutoFit/>
          </a:bodyPr>
          <a:lstStyle/>
          <a:p>
            <a:pPr algn="l">
              <a:lnSpc>
                <a:spcPct val="120000"/>
              </a:lnSpc>
              <a:spcAft>
                <a:spcPts val="0"/>
              </a:spcAft>
            </a:pPr>
            <a:r>
              <a:rPr sz="950" b="0">
                <a:solidFill>
                  <a:srgbClr val="6A6A6A"/>
                </a:solidFill>
                <a:latin typeface="DejaVu Sans"/>
              </a:rPr>
              <a:t>Counts are cumulative, so a flat stretch is a year that added little. Citations are counted as they stand today for the papers published by that year, which is why the early years look larger here than they did at the time.</a:t>
            </a:r>
          </a:p>
        </p:txBody>
      </p:sp>
      <p:sp>
        <p:nvSpPr>
          <p:cNvPr id="8" name="Rectangle 7"/>
          <p:cNvSpPr/>
          <p:nvPr/>
        </p:nvSpPr>
        <p:spPr>
          <a:xfrm>
            <a:off x="566928" y="6199632"/>
            <a:ext cx="11057839" cy="10972"/>
          </a:xfrm>
          <a:prstGeom prst="rect">
            <a:avLst/>
          </a:prstGeom>
          <a:solidFill>
            <a:srgbClr val="E2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272784"/>
            <a:ext cx="10424160" cy="274320"/>
          </a:xfrm>
          <a:prstGeom prst="rect">
            <a:avLst/>
          </a:prstGeom>
          <a:noFill/>
        </p:spPr>
        <p:txBody>
          <a:bodyPr wrap="square" lIns="0" rIns="0" tIns="0" bIns="0">
            <a:spAutoFit/>
          </a:bodyPr>
          <a:lstStyle/>
          <a:p>
            <a:pPr algn="l">
              <a:lnSpc>
                <a:spcPct val="125000"/>
              </a:lnSpc>
              <a:spcAft>
                <a:spcPts val="0"/>
              </a:spcAft>
            </a:pPr>
            <a:r>
              <a:rPr sz="850" b="0">
                <a:solidFill>
                  <a:srgbClr val="6A6A6A"/>
                </a:solidFill>
                <a:latin typeface="DejaVu Sans"/>
              </a:rPr>
              <a:t>Taylor D. Sparks  |  materials chemistry  |  cohort of 1,091 at career year 6  |  aggregates only, and a description rather than a standard</a:t>
            </a:r>
          </a:p>
        </p:txBody>
      </p:sp>
      <p:sp>
        <p:nvSpPr>
          <p:cNvPr id="10" name="TextBox 9"/>
          <p:cNvSpPr txBox="1"/>
          <p:nvPr/>
        </p:nvSpPr>
        <p:spPr>
          <a:xfrm>
            <a:off x="11167567" y="6272784"/>
            <a:ext cx="457200" cy="274320"/>
          </a:xfrm>
          <a:prstGeom prst="rect">
            <a:avLst/>
          </a:prstGeom>
          <a:noFill/>
        </p:spPr>
        <p:txBody>
          <a:bodyPr wrap="square" lIns="0" rIns="0" tIns="0" bIns="0">
            <a:spAutoFit/>
          </a:bodyPr>
          <a:lstStyle/>
          <a:p>
            <a:pPr algn="r">
              <a:lnSpc>
                <a:spcPct val="125000"/>
              </a:lnSpc>
              <a:spcAft>
                <a:spcPts val="0"/>
              </a:spcAft>
            </a:pPr>
            <a:r>
              <a:rPr sz="850" b="0">
                <a:solidFill>
                  <a:srgbClr val="6A6A6A"/>
                </a:solidFill>
                <a:latin typeface="DejaVu San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01168"/>
          </a:xfrm>
          <a:prstGeom prst="rect">
            <a:avLst/>
          </a:prstGeom>
          <a:noFill/>
        </p:spPr>
        <p:txBody>
          <a:bodyPr wrap="square" lIns="0" rIns="0" tIns="0" bIns="0">
            <a:spAutoFit/>
          </a:bodyPr>
          <a:lstStyle/>
          <a:p>
            <a:pPr algn="l">
              <a:lnSpc>
                <a:spcPct val="125000"/>
              </a:lnSpc>
              <a:spcAft>
                <a:spcPts val="0"/>
              </a:spcAft>
            </a:pPr>
            <a:r>
              <a:rPr sz="900" b="1">
                <a:solidFill>
                  <a:srgbClr val="C1440E"/>
                </a:solidFill>
                <a:latin typeface="DejaVu Sans"/>
              </a:rPr>
              <a:t>3. THE COHORT AT YEAR 6</a:t>
            </a:r>
          </a:p>
        </p:txBody>
      </p:sp>
      <p:sp>
        <p:nvSpPr>
          <p:cNvPr id="3" name="TextBox 2"/>
          <p:cNvSpPr txBox="1"/>
          <p:nvPr/>
        </p:nvSpPr>
        <p:spPr>
          <a:xfrm>
            <a:off x="566928" y="566928"/>
            <a:ext cx="11057839" cy="502920"/>
          </a:xfrm>
          <a:prstGeom prst="rect">
            <a:avLst/>
          </a:prstGeom>
          <a:noFill/>
        </p:spPr>
        <p:txBody>
          <a:bodyPr wrap="square" lIns="0" rIns="0" tIns="0" bIns="0">
            <a:spAutoFit/>
          </a:bodyPr>
          <a:lstStyle/>
          <a:p>
            <a:pPr algn="l">
              <a:lnSpc>
                <a:spcPct val="125000"/>
              </a:lnSpc>
              <a:spcAft>
                <a:spcPts val="0"/>
              </a:spcAft>
            </a:pPr>
            <a:r>
              <a:rPr sz="2500" b="1">
                <a:solidFill>
                  <a:srgbClr val="1A1A1A"/>
                </a:solidFill>
                <a:latin typeface="DejaVu Sans"/>
              </a:rPr>
              <a:t>The numbers those bands come from</a:t>
            </a:r>
          </a:p>
        </p:txBody>
      </p:sp>
      <p:sp>
        <p:nvSpPr>
          <p:cNvPr id="4" name="Rectangle 3"/>
          <p:cNvSpPr/>
          <p:nvPr/>
        </p:nvSpPr>
        <p:spPr>
          <a:xfrm>
            <a:off x="566928" y="1115568"/>
            <a:ext cx="786384" cy="32004"/>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225296"/>
            <a:ext cx="10424160" cy="457200"/>
          </a:xfrm>
          <a:prstGeom prst="rect">
            <a:avLst/>
          </a:prstGeom>
          <a:noFill/>
        </p:spPr>
        <p:txBody>
          <a:bodyPr wrap="square" lIns="0" rIns="0" tIns="0" bIns="0">
            <a:spAutoFit/>
          </a:bodyPr>
          <a:lstStyle/>
          <a:p>
            <a:pPr algn="l">
              <a:lnSpc>
                <a:spcPct val="125000"/>
              </a:lnSpc>
              <a:spcAft>
                <a:spcPts val="0"/>
              </a:spcAft>
            </a:pPr>
            <a:r>
              <a:rPr sz="1350" b="0">
                <a:solidFill>
                  <a:srgbClr val="6A6A6A"/>
                </a:solidFill>
                <a:latin typeface="DejaVu Sans"/>
              </a:rPr>
              <a:t>What 1,091 people had published by the end of career year 6, as quartiles across people.</a:t>
            </a:r>
          </a:p>
        </p:txBody>
      </p:sp>
      <p:graphicFrame>
        <p:nvGraphicFramePr>
          <p:cNvPr id="6" name="Table 5"/>
          <p:cNvGraphicFramePr>
            <a:graphicFrameLocks noGrp="1"/>
          </p:cNvGraphicFramePr>
          <p:nvPr/>
        </p:nvGraphicFramePr>
        <p:xfrm>
          <a:off x="566928" y="1755648"/>
          <a:ext cx="7589520" cy="3803904"/>
        </p:xfrm>
        <a:graphic>
          <a:graphicData uri="http://schemas.openxmlformats.org/drawingml/2006/table">
            <a:tbl>
              <a:tblPr>
                <a:tableStyleId>{5C22544A-7EE6-4342-B048-85BDC9FD1C3A}</a:tableStyleId>
              </a:tblPr>
              <a:tblGrid>
                <a:gridCol w="3035808"/>
                <a:gridCol w="1517904"/>
                <a:gridCol w="1517904"/>
                <a:gridCol w="1517904"/>
              </a:tblGrid>
              <a:tr h="475488">
                <a:tc>
                  <a:txBody>
                    <a:bodyPr wrap="square"/>
                    <a:lstStyle/>
                    <a:p>
                      <a:pPr algn="l">
                        <a:lnSpc>
                          <a:spcPct val="105000"/>
                        </a:lnSpc>
                      </a:pPr>
                      <a:r>
                        <a:rPr sz="1000" b="1">
                          <a:solidFill>
                            <a:srgbClr val="1A1A1A"/>
                          </a:solidFill>
                          <a:latin typeface="DejaVu Sans"/>
                        </a:rPr>
                        <a:t>Measured through year 6</a:t>
                      </a:r>
                    </a:p>
                  </a:txBody>
                  <a:tcPr marL="128016" marR="128016" marT="36576" marB="36576" anchor="ctr">
                    <a:solidFill>
                      <a:srgbClr val="F5F7F9"/>
                    </a:solidFill>
                    <a:lnL w="9525" cap="flat">
                      <a:noFill/>
                    </a:lnL>
                    <a:lnR w="9525" cap="flat">
                      <a:noFill/>
                    </a:lnR>
                    <a:lnT w="9525" cap="flat">
                      <a:solidFill>
                        <a:srgbClr val="E2E6EA"/>
                      </a:solidFill>
                    </a:lnT>
                    <a:lnB w="9525" cap="flat">
                      <a:solidFill>
                        <a:srgbClr val="E2E6EA"/>
                      </a:solidFill>
                    </a:lnB>
                  </a:tcPr>
                </a:tc>
                <a:tc>
                  <a:txBody>
                    <a:bodyPr wrap="square"/>
                    <a:lstStyle/>
                    <a:p>
                      <a:pPr algn="r">
                        <a:lnSpc>
                          <a:spcPct val="105000"/>
                        </a:lnSpc>
                      </a:pPr>
                      <a:r>
                        <a:rPr sz="1000" b="1">
                          <a:solidFill>
                            <a:srgbClr val="1A1A1A"/>
                          </a:solidFill>
                          <a:latin typeface="DejaVu Sans"/>
                        </a:rPr>
                        <a:t>Lower quarter</a:t>
                      </a:r>
                    </a:p>
                  </a:txBody>
                  <a:tcPr marL="128016" marR="128016" marT="36576" marB="36576" anchor="ctr">
                    <a:solidFill>
                      <a:srgbClr val="F5F7F9"/>
                    </a:solidFill>
                    <a:lnL w="9525" cap="flat">
                      <a:noFill/>
                    </a:lnL>
                    <a:lnR w="9525" cap="flat">
                      <a:noFill/>
                    </a:lnR>
                    <a:lnT w="9525" cap="flat">
                      <a:solidFill>
                        <a:srgbClr val="E2E6EA"/>
                      </a:solidFill>
                    </a:lnT>
                    <a:lnB w="9525" cap="flat">
                      <a:solidFill>
                        <a:srgbClr val="E2E6EA"/>
                      </a:solidFill>
                    </a:lnB>
                  </a:tcPr>
                </a:tc>
                <a:tc>
                  <a:txBody>
                    <a:bodyPr wrap="square"/>
                    <a:lstStyle/>
                    <a:p>
                      <a:pPr algn="r">
                        <a:lnSpc>
                          <a:spcPct val="105000"/>
                        </a:lnSpc>
                      </a:pPr>
                      <a:r>
                        <a:rPr sz="1000" b="1">
                          <a:solidFill>
                            <a:srgbClr val="1A1A1A"/>
                          </a:solidFill>
                          <a:latin typeface="DejaVu Sans"/>
                        </a:rPr>
                        <a:t>Median</a:t>
                      </a:r>
                    </a:p>
                  </a:txBody>
                  <a:tcPr marL="128016" marR="128016" marT="36576" marB="36576" anchor="ctr">
                    <a:solidFill>
                      <a:srgbClr val="F5F7F9"/>
                    </a:solidFill>
                    <a:lnL w="9525" cap="flat">
                      <a:noFill/>
                    </a:lnL>
                    <a:lnR w="9525" cap="flat">
                      <a:noFill/>
                    </a:lnR>
                    <a:lnT w="9525" cap="flat">
                      <a:solidFill>
                        <a:srgbClr val="E2E6EA"/>
                      </a:solidFill>
                    </a:lnT>
                    <a:lnB w="9525" cap="flat">
                      <a:solidFill>
                        <a:srgbClr val="E2E6EA"/>
                      </a:solidFill>
                    </a:lnB>
                  </a:tcPr>
                </a:tc>
                <a:tc>
                  <a:txBody>
                    <a:bodyPr wrap="square"/>
                    <a:lstStyle/>
                    <a:p>
                      <a:pPr algn="r">
                        <a:lnSpc>
                          <a:spcPct val="105000"/>
                        </a:lnSpc>
                      </a:pPr>
                      <a:r>
                        <a:rPr sz="1000" b="1">
                          <a:solidFill>
                            <a:srgbClr val="1A1A1A"/>
                          </a:solidFill>
                          <a:latin typeface="DejaVu Sans"/>
                        </a:rPr>
                        <a:t>Upper quarter</a:t>
                      </a:r>
                    </a:p>
                  </a:txBody>
                  <a:tcPr marL="128016" marR="128016" marT="36576" marB="36576" anchor="ctr">
                    <a:solidFill>
                      <a:srgbClr val="F5F7F9"/>
                    </a:solidFill>
                    <a:lnL w="9525" cap="flat">
                      <a:noFill/>
                    </a:lnL>
                    <a:lnR w="9525" cap="flat">
                      <a:noFill/>
                    </a:lnR>
                    <a:lnT w="9525" cap="flat">
                      <a:solidFill>
                        <a:srgbClr val="E2E6EA"/>
                      </a:solidFill>
                    </a:lnT>
                    <a:lnB w="9525" cap="flat">
                      <a:solidFill>
                        <a:srgbClr val="E2E6EA"/>
                      </a:solidFill>
                    </a:lnB>
                  </a:tcPr>
                </a:tc>
              </a:tr>
              <a:tr h="475488">
                <a:tc>
                  <a:txBody>
                    <a:bodyPr wrap="square"/>
                    <a:lstStyle/>
                    <a:p>
                      <a:pPr algn="l">
                        <a:lnSpc>
                          <a:spcPct val="105000"/>
                        </a:lnSpc>
                      </a:pPr>
                      <a:r>
                        <a:rPr sz="1000" b="0">
                          <a:solidFill>
                            <a:srgbClr val="1A1A1A"/>
                          </a:solidFill>
                          <a:latin typeface="DejaVu Sans"/>
                        </a:rPr>
                        <a:t>Journal articles</a:t>
                      </a:r>
                    </a:p>
                  </a:txBody>
                  <a:tcPr marL="128016" marR="128016" marT="36576" marB="36576" anchor="ctr">
                    <a:solidFill>
                      <a:srgbClr val="FFFFFF"/>
                    </a:solidFill>
                    <a:lnL w="9525" cap="flat">
                      <a:noFill/>
                    </a:lnL>
                    <a:lnR w="9525" cap="flat">
                      <a:noFill/>
                    </a:lnR>
                    <a:lnT w="9525" cap="flat">
                      <a:noFill/>
                    </a:lnT>
                    <a:lnB w="9525" cap="flat">
                      <a:solidFill>
                        <a:srgbClr val="E2E6EA"/>
                      </a:solidFill>
                    </a:lnB>
                  </a:tcPr>
                </a:tc>
                <a:tc>
                  <a:txBody>
                    <a:bodyPr wrap="square"/>
                    <a:lstStyle/>
                    <a:p>
                      <a:pPr algn="r">
                        <a:lnSpc>
                          <a:spcPct val="105000"/>
                        </a:lnSpc>
                      </a:pPr>
                      <a:r>
                        <a:rPr sz="1000" b="1">
                          <a:solidFill>
                            <a:srgbClr val="1A1A1A"/>
                          </a:solidFill>
                          <a:latin typeface="DejaVu Sans"/>
                        </a:rPr>
                        <a:t>14</a:t>
                      </a:r>
                    </a:p>
                    <a:p>
                      <a:pPr algn="r">
                        <a:lnSpc>
                          <a:spcPct val="105000"/>
                        </a:lnSpc>
                      </a:pPr>
                      <a:r>
                        <a:rPr sz="850" b="0">
                          <a:solidFill>
                            <a:srgbClr val="6A6A6A"/>
                          </a:solidFill>
                          <a:latin typeface="DejaVu Sans"/>
                        </a:rPr>
                        <a:t>13 to 14</a:t>
                      </a:r>
                    </a:p>
                  </a:txBody>
                  <a:tcPr marL="128016" marR="128016" marT="36576" marB="36576" anchor="ctr">
                    <a:solidFill>
                      <a:srgbClr val="FFFFFF"/>
                    </a:solidFill>
                    <a:lnL w="9525" cap="flat">
                      <a:noFill/>
                    </a:lnL>
                    <a:lnR w="9525" cap="flat">
                      <a:noFill/>
                    </a:lnR>
                    <a:lnT w="9525" cap="flat">
                      <a:noFill/>
                    </a:lnT>
                    <a:lnB w="9525" cap="flat">
                      <a:solidFill>
                        <a:srgbClr val="E2E6EA"/>
                      </a:solidFill>
                    </a:lnB>
                  </a:tcPr>
                </a:tc>
                <a:tc>
                  <a:txBody>
                    <a:bodyPr wrap="square"/>
                    <a:lstStyle/>
                    <a:p>
                      <a:pPr algn="r">
                        <a:lnSpc>
                          <a:spcPct val="105000"/>
                        </a:lnSpc>
                      </a:pPr>
                      <a:r>
                        <a:rPr sz="1000" b="1">
                          <a:solidFill>
                            <a:srgbClr val="1A1A1A"/>
                          </a:solidFill>
                          <a:latin typeface="DejaVu Sans"/>
                        </a:rPr>
                        <a:t>23</a:t>
                      </a:r>
                    </a:p>
                    <a:p>
                      <a:pPr algn="r">
                        <a:lnSpc>
                          <a:spcPct val="105000"/>
                        </a:lnSpc>
                      </a:pPr>
                      <a:r>
                        <a:rPr sz="850" b="0">
                          <a:solidFill>
                            <a:srgbClr val="6A6A6A"/>
                          </a:solidFill>
                          <a:latin typeface="DejaVu Sans"/>
                        </a:rPr>
                        <a:t>22 to 25</a:t>
                      </a:r>
                    </a:p>
                  </a:txBody>
                  <a:tcPr marL="128016" marR="128016" marT="36576" marB="36576" anchor="ctr">
                    <a:solidFill>
                      <a:srgbClr val="FFFFFF"/>
                    </a:solidFill>
                    <a:lnL w="9525" cap="flat">
                      <a:noFill/>
                    </a:lnL>
                    <a:lnR w="9525" cap="flat">
                      <a:noFill/>
                    </a:lnR>
                    <a:lnT w="9525" cap="flat">
                      <a:noFill/>
                    </a:lnT>
                    <a:lnB w="9525" cap="flat">
                      <a:solidFill>
                        <a:srgbClr val="E2E6EA"/>
                      </a:solidFill>
                    </a:lnB>
                  </a:tcPr>
                </a:tc>
                <a:tc>
                  <a:txBody>
                    <a:bodyPr wrap="square"/>
                    <a:lstStyle/>
                    <a:p>
                      <a:pPr algn="r">
                        <a:lnSpc>
                          <a:spcPct val="105000"/>
                        </a:lnSpc>
                      </a:pPr>
                      <a:r>
                        <a:rPr sz="1000" b="1">
                          <a:solidFill>
                            <a:srgbClr val="1A1A1A"/>
                          </a:solidFill>
                          <a:latin typeface="DejaVu Sans"/>
                        </a:rPr>
                        <a:t>38</a:t>
                      </a:r>
                    </a:p>
                    <a:p>
                      <a:pPr algn="r">
                        <a:lnSpc>
                          <a:spcPct val="105000"/>
                        </a:lnSpc>
                      </a:pPr>
                      <a:r>
                        <a:rPr sz="850" b="0">
                          <a:solidFill>
                            <a:srgbClr val="6A6A6A"/>
                          </a:solidFill>
                          <a:latin typeface="DejaVu Sans"/>
                        </a:rPr>
                        <a:t>36 to 40</a:t>
                      </a:r>
                    </a:p>
                  </a:txBody>
                  <a:tcPr marL="128016" marR="128016" marT="36576" marB="36576" anchor="ctr">
                    <a:solidFill>
                      <a:srgbClr val="FFFFFF"/>
                    </a:solidFill>
                    <a:lnL w="9525" cap="flat">
                      <a:noFill/>
                    </a:lnL>
                    <a:lnR w="9525" cap="flat">
                      <a:noFill/>
                    </a:lnR>
                    <a:lnT w="9525" cap="flat">
                      <a:noFill/>
                    </a:lnT>
                    <a:lnB w="9525" cap="flat">
                      <a:solidFill>
                        <a:srgbClr val="E2E6EA"/>
                      </a:solidFill>
                    </a:lnB>
                  </a:tcPr>
                </a:tc>
              </a:tr>
              <a:tr h="475488">
                <a:tc>
                  <a:txBody>
                    <a:bodyPr wrap="square"/>
                    <a:lstStyle/>
                    <a:p>
                      <a:pPr algn="l">
                        <a:lnSpc>
                          <a:spcPct val="105000"/>
                        </a:lnSpc>
                      </a:pPr>
                      <a:r>
                        <a:rPr sz="1000" b="0">
                          <a:solidFill>
                            <a:srgbClr val="1A1A1A"/>
                          </a:solidFill>
                          <a:latin typeface="DejaVu Sans"/>
                        </a:rPr>
                        <a:t>Led articles (last or corresponding)</a:t>
                      </a:r>
                    </a:p>
                  </a:txBody>
                  <a:tcPr marL="128016" marR="128016" marT="36576" marB="36576" anchor="ctr">
                    <a:solidFill>
                      <a:srgbClr val="FBFCFD"/>
                    </a:solidFill>
                    <a:lnL w="9525" cap="flat">
                      <a:noFill/>
                    </a:lnL>
                    <a:lnR w="9525" cap="flat">
                      <a:noFill/>
                    </a:lnR>
                    <a:lnT w="9525" cap="flat">
                      <a:noFill/>
                    </a:lnT>
                    <a:lnB w="9525" cap="flat">
                      <a:solidFill>
                        <a:srgbClr val="E2E6EA"/>
                      </a:solidFill>
                    </a:lnB>
                  </a:tcPr>
                </a:tc>
                <a:tc>
                  <a:txBody>
                    <a:bodyPr wrap="square"/>
                    <a:lstStyle/>
                    <a:p>
                      <a:pPr algn="r">
                        <a:lnSpc>
                          <a:spcPct val="105000"/>
                        </a:lnSpc>
                      </a:pPr>
                      <a:r>
                        <a:rPr sz="1000" b="1">
                          <a:solidFill>
                            <a:srgbClr val="1A1A1A"/>
                          </a:solidFill>
                          <a:latin typeface="DejaVu Sans"/>
                        </a:rPr>
                        <a:t>3</a:t>
                      </a:r>
                    </a:p>
                    <a:p>
                      <a:pPr algn="r">
                        <a:lnSpc>
                          <a:spcPct val="105000"/>
                        </a:lnSpc>
                      </a:pPr>
                      <a:r>
                        <a:rPr sz="850" b="0">
                          <a:solidFill>
                            <a:srgbClr val="6A6A6A"/>
                          </a:solidFill>
                          <a:latin typeface="DejaVu Sans"/>
                        </a:rPr>
                        <a:t>3 to 3</a:t>
                      </a:r>
                    </a:p>
                  </a:txBody>
                  <a:tcPr marL="128016" marR="128016" marT="36576" marB="36576" anchor="ctr">
                    <a:solidFill>
                      <a:srgbClr val="FBFCFD"/>
                    </a:solidFill>
                    <a:lnL w="9525" cap="flat">
                      <a:noFill/>
                    </a:lnL>
                    <a:lnR w="9525" cap="flat">
                      <a:noFill/>
                    </a:lnR>
                    <a:lnT w="9525" cap="flat">
                      <a:noFill/>
                    </a:lnT>
                    <a:lnB w="9525" cap="flat">
                      <a:solidFill>
                        <a:srgbClr val="E2E6EA"/>
                      </a:solidFill>
                    </a:lnB>
                  </a:tcPr>
                </a:tc>
                <a:tc>
                  <a:txBody>
                    <a:bodyPr wrap="square"/>
                    <a:lstStyle/>
                    <a:p>
                      <a:pPr algn="r">
                        <a:lnSpc>
                          <a:spcPct val="105000"/>
                        </a:lnSpc>
                      </a:pPr>
                      <a:r>
                        <a:rPr sz="1000" b="1">
                          <a:solidFill>
                            <a:srgbClr val="1A1A1A"/>
                          </a:solidFill>
                          <a:latin typeface="DejaVu Sans"/>
                        </a:rPr>
                        <a:t>6</a:t>
                      </a:r>
                    </a:p>
                    <a:p>
                      <a:pPr algn="r">
                        <a:lnSpc>
                          <a:spcPct val="105000"/>
                        </a:lnSpc>
                      </a:pPr>
                      <a:r>
                        <a:rPr sz="850" b="0">
                          <a:solidFill>
                            <a:srgbClr val="6A6A6A"/>
                          </a:solidFill>
                          <a:latin typeface="DejaVu Sans"/>
                        </a:rPr>
                        <a:t>5 to 6</a:t>
                      </a:r>
                    </a:p>
                  </a:txBody>
                  <a:tcPr marL="128016" marR="128016" marT="36576" marB="36576" anchor="ctr">
                    <a:solidFill>
                      <a:srgbClr val="FBFCFD"/>
                    </a:solidFill>
                    <a:lnL w="9525" cap="flat">
                      <a:noFill/>
                    </a:lnL>
                    <a:lnR w="9525" cap="flat">
                      <a:noFill/>
                    </a:lnR>
                    <a:lnT w="9525" cap="flat">
                      <a:noFill/>
                    </a:lnT>
                    <a:lnB w="9525" cap="flat">
                      <a:solidFill>
                        <a:srgbClr val="E2E6EA"/>
                      </a:solidFill>
                    </a:lnB>
                  </a:tcPr>
                </a:tc>
                <a:tc>
                  <a:txBody>
                    <a:bodyPr wrap="square"/>
                    <a:lstStyle/>
                    <a:p>
                      <a:pPr algn="r">
                        <a:lnSpc>
                          <a:spcPct val="105000"/>
                        </a:lnSpc>
                      </a:pPr>
                      <a:r>
                        <a:rPr sz="1000" b="1">
                          <a:solidFill>
                            <a:srgbClr val="1A1A1A"/>
                          </a:solidFill>
                          <a:latin typeface="DejaVu Sans"/>
                        </a:rPr>
                        <a:t>12</a:t>
                      </a:r>
                    </a:p>
                    <a:p>
                      <a:pPr algn="r">
                        <a:lnSpc>
                          <a:spcPct val="105000"/>
                        </a:lnSpc>
                      </a:pPr>
                      <a:r>
                        <a:rPr sz="850" b="0">
                          <a:solidFill>
                            <a:srgbClr val="6A6A6A"/>
                          </a:solidFill>
                          <a:latin typeface="DejaVu Sans"/>
                        </a:rPr>
                        <a:t>11 to 13</a:t>
                      </a:r>
                    </a:p>
                  </a:txBody>
                  <a:tcPr marL="128016" marR="128016" marT="36576" marB="36576" anchor="ctr">
                    <a:solidFill>
                      <a:srgbClr val="FBFCFD"/>
                    </a:solidFill>
                    <a:lnL w="9525" cap="flat">
                      <a:noFill/>
                    </a:lnL>
                    <a:lnR w="9525" cap="flat">
                      <a:noFill/>
                    </a:lnR>
                    <a:lnT w="9525" cap="flat">
                      <a:noFill/>
                    </a:lnT>
                    <a:lnB w="9525" cap="flat">
                      <a:solidFill>
                        <a:srgbClr val="E2E6EA"/>
                      </a:solidFill>
                    </a:lnB>
                  </a:tcPr>
                </a:tc>
              </a:tr>
              <a:tr h="475488">
                <a:tc>
                  <a:txBody>
                    <a:bodyPr wrap="square"/>
                    <a:lstStyle/>
                    <a:p>
                      <a:pPr algn="l">
                        <a:lnSpc>
                          <a:spcPct val="105000"/>
                        </a:lnSpc>
                      </a:pPr>
                      <a:r>
                        <a:rPr sz="1000" b="0">
                          <a:solidFill>
                            <a:srgbClr val="1A1A1A"/>
                          </a:solidFill>
                          <a:latin typeface="DejaVu Sans"/>
                        </a:rPr>
                        <a:t>Share of articles led</a:t>
                      </a:r>
                    </a:p>
                  </a:txBody>
                  <a:tcPr marL="128016" marR="128016" marT="36576" marB="36576" anchor="ctr">
                    <a:solidFill>
                      <a:srgbClr val="FFFFFF"/>
                    </a:solidFill>
                    <a:lnL w="9525" cap="flat">
                      <a:noFill/>
                    </a:lnL>
                    <a:lnR w="9525" cap="flat">
                      <a:noFill/>
                    </a:lnR>
                    <a:lnT w="9525" cap="flat">
                      <a:noFill/>
                    </a:lnT>
                    <a:lnB w="9525" cap="flat">
                      <a:solidFill>
                        <a:srgbClr val="E2E6EA"/>
                      </a:solidFill>
                    </a:lnB>
                  </a:tcPr>
                </a:tc>
                <a:tc>
                  <a:txBody>
                    <a:bodyPr wrap="square"/>
                    <a:lstStyle/>
                    <a:p>
                      <a:pPr algn="r">
                        <a:lnSpc>
                          <a:spcPct val="105000"/>
                        </a:lnSpc>
                      </a:pPr>
                      <a:r>
                        <a:rPr sz="1000" b="1">
                          <a:solidFill>
                            <a:srgbClr val="1A1A1A"/>
                          </a:solidFill>
                          <a:latin typeface="DejaVu Sans"/>
                        </a:rPr>
                        <a:t>0.16</a:t>
                      </a:r>
                    </a:p>
                    <a:p>
                      <a:pPr algn="r">
                        <a:lnSpc>
                          <a:spcPct val="105000"/>
                        </a:lnSpc>
                      </a:pPr>
                      <a:r>
                        <a:rPr sz="850" b="0">
                          <a:solidFill>
                            <a:srgbClr val="6A6A6A"/>
                          </a:solidFill>
                          <a:latin typeface="DejaVu Sans"/>
                        </a:rPr>
                        <a:t>0.14 to 0.17</a:t>
                      </a:r>
                    </a:p>
                  </a:txBody>
                  <a:tcPr marL="128016" marR="128016" marT="36576" marB="36576" anchor="ctr">
                    <a:solidFill>
                      <a:srgbClr val="FFFFFF"/>
                    </a:solidFill>
                    <a:lnL w="9525" cap="flat">
                      <a:noFill/>
                    </a:lnL>
                    <a:lnR w="9525" cap="flat">
                      <a:noFill/>
                    </a:lnR>
                    <a:lnT w="9525" cap="flat">
                      <a:noFill/>
                    </a:lnT>
                    <a:lnB w="9525" cap="flat">
                      <a:solidFill>
                        <a:srgbClr val="E2E6EA"/>
                      </a:solidFill>
                    </a:lnB>
                  </a:tcPr>
                </a:tc>
                <a:tc>
                  <a:txBody>
                    <a:bodyPr wrap="square"/>
                    <a:lstStyle/>
                    <a:p>
                      <a:pPr algn="r">
                        <a:lnSpc>
                          <a:spcPct val="105000"/>
                        </a:lnSpc>
                      </a:pPr>
                      <a:r>
                        <a:rPr sz="1000" b="1">
                          <a:solidFill>
                            <a:srgbClr val="1A1A1A"/>
                          </a:solidFill>
                          <a:latin typeface="DejaVu Sans"/>
                        </a:rPr>
                        <a:t>0.29</a:t>
                      </a:r>
                    </a:p>
                    <a:p>
                      <a:pPr algn="r">
                        <a:lnSpc>
                          <a:spcPct val="105000"/>
                        </a:lnSpc>
                      </a:pPr>
                      <a:r>
                        <a:rPr sz="850" b="0">
                          <a:solidFill>
                            <a:srgbClr val="6A6A6A"/>
                          </a:solidFill>
                          <a:latin typeface="DejaVu Sans"/>
                        </a:rPr>
                        <a:t>0.27 to 0.31</a:t>
                      </a:r>
                    </a:p>
                  </a:txBody>
                  <a:tcPr marL="128016" marR="128016" marT="36576" marB="36576" anchor="ctr">
                    <a:solidFill>
                      <a:srgbClr val="FFFFFF"/>
                    </a:solidFill>
                    <a:lnL w="9525" cap="flat">
                      <a:noFill/>
                    </a:lnL>
                    <a:lnR w="9525" cap="flat">
                      <a:noFill/>
                    </a:lnR>
                    <a:lnT w="9525" cap="flat">
                      <a:noFill/>
                    </a:lnT>
                    <a:lnB w="9525" cap="flat">
                      <a:solidFill>
                        <a:srgbClr val="E2E6EA"/>
                      </a:solidFill>
                    </a:lnB>
                  </a:tcPr>
                </a:tc>
                <a:tc>
                  <a:txBody>
                    <a:bodyPr wrap="square"/>
                    <a:lstStyle/>
                    <a:p>
                      <a:pPr algn="r">
                        <a:lnSpc>
                          <a:spcPct val="105000"/>
                        </a:lnSpc>
                      </a:pPr>
                      <a:r>
                        <a:rPr sz="1000" b="1">
                          <a:solidFill>
                            <a:srgbClr val="1A1A1A"/>
                          </a:solidFill>
                          <a:latin typeface="DejaVu Sans"/>
                        </a:rPr>
                        <a:t>0.50</a:t>
                      </a:r>
                    </a:p>
                    <a:p>
                      <a:pPr algn="r">
                        <a:lnSpc>
                          <a:spcPct val="105000"/>
                        </a:lnSpc>
                      </a:pPr>
                      <a:r>
                        <a:rPr sz="850" b="0">
                          <a:solidFill>
                            <a:srgbClr val="6A6A6A"/>
                          </a:solidFill>
                          <a:latin typeface="DejaVu Sans"/>
                        </a:rPr>
                        <a:t>0.46 to 0.50</a:t>
                      </a:r>
                    </a:p>
                  </a:txBody>
                  <a:tcPr marL="128016" marR="128016" marT="36576" marB="36576" anchor="ctr">
                    <a:solidFill>
                      <a:srgbClr val="FFFFFF"/>
                    </a:solidFill>
                    <a:lnL w="9525" cap="flat">
                      <a:noFill/>
                    </a:lnL>
                    <a:lnR w="9525" cap="flat">
                      <a:noFill/>
                    </a:lnR>
                    <a:lnT w="9525" cap="flat">
                      <a:noFill/>
                    </a:lnT>
                    <a:lnB w="9525" cap="flat">
                      <a:solidFill>
                        <a:srgbClr val="E2E6EA"/>
                      </a:solidFill>
                    </a:lnB>
                  </a:tcPr>
                </a:tc>
              </a:tr>
              <a:tr h="475488">
                <a:tc>
                  <a:txBody>
                    <a:bodyPr wrap="square"/>
                    <a:lstStyle/>
                    <a:p>
                      <a:pPr algn="l">
                        <a:lnSpc>
                          <a:spcPct val="105000"/>
                        </a:lnSpc>
                      </a:pPr>
                      <a:r>
                        <a:rPr sz="1000" b="0">
                          <a:solidFill>
                            <a:srgbClr val="1A1A1A"/>
                          </a:solidFill>
                          <a:latin typeface="DejaVu Sans"/>
                        </a:rPr>
                        <a:t>Citations to those articles</a:t>
                      </a:r>
                    </a:p>
                  </a:txBody>
                  <a:tcPr marL="128016" marR="128016" marT="36576" marB="36576" anchor="ctr">
                    <a:solidFill>
                      <a:srgbClr val="FBFCFD"/>
                    </a:solidFill>
                    <a:lnL w="9525" cap="flat">
                      <a:noFill/>
                    </a:lnL>
                    <a:lnR w="9525" cap="flat">
                      <a:noFill/>
                    </a:lnR>
                    <a:lnT w="9525" cap="flat">
                      <a:noFill/>
                    </a:lnT>
                    <a:lnB w="9525" cap="flat">
                      <a:solidFill>
                        <a:srgbClr val="E2E6EA"/>
                      </a:solidFill>
                    </a:lnB>
                  </a:tcPr>
                </a:tc>
                <a:tc>
                  <a:txBody>
                    <a:bodyPr wrap="square"/>
                    <a:lstStyle/>
                    <a:p>
                      <a:pPr algn="r">
                        <a:lnSpc>
                          <a:spcPct val="105000"/>
                        </a:lnSpc>
                      </a:pPr>
                      <a:r>
                        <a:rPr sz="1000" b="1">
                          <a:solidFill>
                            <a:srgbClr val="1A1A1A"/>
                          </a:solidFill>
                          <a:latin typeface="DejaVu Sans"/>
                        </a:rPr>
                        <a:t>410</a:t>
                      </a:r>
                    </a:p>
                    <a:p>
                      <a:pPr algn="r">
                        <a:lnSpc>
                          <a:spcPct val="105000"/>
                        </a:lnSpc>
                      </a:pPr>
                      <a:r>
                        <a:rPr sz="850" b="0">
                          <a:solidFill>
                            <a:srgbClr val="6A6A6A"/>
                          </a:solidFill>
                          <a:latin typeface="DejaVu Sans"/>
                        </a:rPr>
                        <a:t>362 to 448</a:t>
                      </a:r>
                    </a:p>
                  </a:txBody>
                  <a:tcPr marL="128016" marR="128016" marT="36576" marB="36576" anchor="ctr">
                    <a:solidFill>
                      <a:srgbClr val="FBFCFD"/>
                    </a:solidFill>
                    <a:lnL w="9525" cap="flat">
                      <a:noFill/>
                    </a:lnL>
                    <a:lnR w="9525" cap="flat">
                      <a:noFill/>
                    </a:lnR>
                    <a:lnT w="9525" cap="flat">
                      <a:noFill/>
                    </a:lnT>
                    <a:lnB w="9525" cap="flat">
                      <a:solidFill>
                        <a:srgbClr val="E2E6EA"/>
                      </a:solidFill>
                    </a:lnB>
                  </a:tcPr>
                </a:tc>
                <a:tc>
                  <a:txBody>
                    <a:bodyPr wrap="square"/>
                    <a:lstStyle/>
                    <a:p>
                      <a:pPr algn="r">
                        <a:lnSpc>
                          <a:spcPct val="105000"/>
                        </a:lnSpc>
                      </a:pPr>
                      <a:r>
                        <a:rPr sz="1000" b="1">
                          <a:solidFill>
                            <a:srgbClr val="1A1A1A"/>
                          </a:solidFill>
                          <a:latin typeface="DejaVu Sans"/>
                        </a:rPr>
                        <a:t>942</a:t>
                      </a:r>
                    </a:p>
                    <a:p>
                      <a:pPr algn="r">
                        <a:lnSpc>
                          <a:spcPct val="105000"/>
                        </a:lnSpc>
                      </a:pPr>
                      <a:r>
                        <a:rPr sz="850" b="0">
                          <a:solidFill>
                            <a:srgbClr val="6A6A6A"/>
                          </a:solidFill>
                          <a:latin typeface="DejaVu Sans"/>
                        </a:rPr>
                        <a:t>853 to 1036</a:t>
                      </a:r>
                    </a:p>
                  </a:txBody>
                  <a:tcPr marL="128016" marR="128016" marT="36576" marB="36576" anchor="ctr">
                    <a:solidFill>
                      <a:srgbClr val="FBFCFD"/>
                    </a:solidFill>
                    <a:lnL w="9525" cap="flat">
                      <a:noFill/>
                    </a:lnL>
                    <a:lnR w="9525" cap="flat">
                      <a:noFill/>
                    </a:lnR>
                    <a:lnT w="9525" cap="flat">
                      <a:noFill/>
                    </a:lnT>
                    <a:lnB w="9525" cap="flat">
                      <a:solidFill>
                        <a:srgbClr val="E2E6EA"/>
                      </a:solidFill>
                    </a:lnB>
                  </a:tcPr>
                </a:tc>
                <a:tc>
                  <a:txBody>
                    <a:bodyPr wrap="square"/>
                    <a:lstStyle/>
                    <a:p>
                      <a:pPr algn="r">
                        <a:lnSpc>
                          <a:spcPct val="105000"/>
                        </a:lnSpc>
                      </a:pPr>
                      <a:r>
                        <a:rPr sz="1000" b="1">
                          <a:solidFill>
                            <a:srgbClr val="1A1A1A"/>
                          </a:solidFill>
                          <a:latin typeface="DejaVu Sans"/>
                        </a:rPr>
                        <a:t>2128</a:t>
                      </a:r>
                    </a:p>
                    <a:p>
                      <a:pPr algn="r">
                        <a:lnSpc>
                          <a:spcPct val="105000"/>
                        </a:lnSpc>
                      </a:pPr>
                      <a:r>
                        <a:rPr sz="850" b="0">
                          <a:solidFill>
                            <a:srgbClr val="6A6A6A"/>
                          </a:solidFill>
                          <a:latin typeface="DejaVu Sans"/>
                        </a:rPr>
                        <a:t>1940 to 2394</a:t>
                      </a:r>
                    </a:p>
                  </a:txBody>
                  <a:tcPr marL="128016" marR="128016" marT="36576" marB="36576" anchor="ctr">
                    <a:solidFill>
                      <a:srgbClr val="FBFCFD"/>
                    </a:solidFill>
                    <a:lnL w="9525" cap="flat">
                      <a:noFill/>
                    </a:lnL>
                    <a:lnR w="9525" cap="flat">
                      <a:noFill/>
                    </a:lnR>
                    <a:lnT w="9525" cap="flat">
                      <a:noFill/>
                    </a:lnT>
                    <a:lnB w="9525" cap="flat">
                      <a:solidFill>
                        <a:srgbClr val="E2E6EA"/>
                      </a:solidFill>
                    </a:lnB>
                  </a:tcPr>
                </a:tc>
              </a:tr>
              <a:tr h="475488">
                <a:tc>
                  <a:txBody>
                    <a:bodyPr wrap="square"/>
                    <a:lstStyle/>
                    <a:p>
                      <a:pPr algn="l">
                        <a:lnSpc>
                          <a:spcPct val="105000"/>
                        </a:lnSpc>
                      </a:pPr>
                      <a:r>
                        <a:rPr sz="1000" b="0">
                          <a:solidFill>
                            <a:srgbClr val="1A1A1A"/>
                          </a:solidFill>
                          <a:latin typeface="DejaVu Sans"/>
                        </a:rPr>
                        <a:t>h-index over those articles</a:t>
                      </a:r>
                    </a:p>
                  </a:txBody>
                  <a:tcPr marL="128016" marR="128016" marT="36576" marB="36576" anchor="ctr">
                    <a:solidFill>
                      <a:srgbClr val="FFFFFF"/>
                    </a:solidFill>
                    <a:lnL w="9525" cap="flat">
                      <a:noFill/>
                    </a:lnL>
                    <a:lnR w="9525" cap="flat">
                      <a:noFill/>
                    </a:lnR>
                    <a:lnT w="9525" cap="flat">
                      <a:noFill/>
                    </a:lnT>
                    <a:lnB w="9525" cap="flat">
                      <a:solidFill>
                        <a:srgbClr val="E2E6EA"/>
                      </a:solidFill>
                    </a:lnB>
                  </a:tcPr>
                </a:tc>
                <a:tc>
                  <a:txBody>
                    <a:bodyPr wrap="square"/>
                    <a:lstStyle/>
                    <a:p>
                      <a:pPr algn="r">
                        <a:lnSpc>
                          <a:spcPct val="105000"/>
                        </a:lnSpc>
                      </a:pPr>
                      <a:r>
                        <a:rPr sz="1000" b="1">
                          <a:solidFill>
                            <a:srgbClr val="1A1A1A"/>
                          </a:solidFill>
                          <a:latin typeface="DejaVu Sans"/>
                        </a:rPr>
                        <a:t>9</a:t>
                      </a:r>
                    </a:p>
                    <a:p>
                      <a:pPr algn="r">
                        <a:lnSpc>
                          <a:spcPct val="105000"/>
                        </a:lnSpc>
                      </a:pPr>
                      <a:r>
                        <a:rPr sz="850" b="0">
                          <a:solidFill>
                            <a:srgbClr val="6A6A6A"/>
                          </a:solidFill>
                          <a:latin typeface="DejaVu Sans"/>
                        </a:rPr>
                        <a:t>8 to 9</a:t>
                      </a:r>
                    </a:p>
                  </a:txBody>
                  <a:tcPr marL="128016" marR="128016" marT="36576" marB="36576" anchor="ctr">
                    <a:solidFill>
                      <a:srgbClr val="FFFFFF"/>
                    </a:solidFill>
                    <a:lnL w="9525" cap="flat">
                      <a:noFill/>
                    </a:lnL>
                    <a:lnR w="9525" cap="flat">
                      <a:noFill/>
                    </a:lnR>
                    <a:lnT w="9525" cap="flat">
                      <a:noFill/>
                    </a:lnT>
                    <a:lnB w="9525" cap="flat">
                      <a:solidFill>
                        <a:srgbClr val="E2E6EA"/>
                      </a:solidFill>
                    </a:lnB>
                  </a:tcPr>
                </a:tc>
                <a:tc>
                  <a:txBody>
                    <a:bodyPr wrap="square"/>
                    <a:lstStyle/>
                    <a:p>
                      <a:pPr algn="r">
                        <a:lnSpc>
                          <a:spcPct val="105000"/>
                        </a:lnSpc>
                      </a:pPr>
                      <a:r>
                        <a:rPr sz="1000" b="1">
                          <a:solidFill>
                            <a:srgbClr val="1A1A1A"/>
                          </a:solidFill>
                          <a:latin typeface="DejaVu Sans"/>
                        </a:rPr>
                        <a:t>14</a:t>
                      </a:r>
                    </a:p>
                    <a:p>
                      <a:pPr algn="r">
                        <a:lnSpc>
                          <a:spcPct val="105000"/>
                        </a:lnSpc>
                      </a:pPr>
                      <a:r>
                        <a:rPr sz="850" b="0">
                          <a:solidFill>
                            <a:srgbClr val="6A6A6A"/>
                          </a:solidFill>
                          <a:latin typeface="DejaVu Sans"/>
                        </a:rPr>
                        <a:t>13 to 15</a:t>
                      </a:r>
                    </a:p>
                  </a:txBody>
                  <a:tcPr marL="128016" marR="128016" marT="36576" marB="36576" anchor="ctr">
                    <a:solidFill>
                      <a:srgbClr val="FFFFFF"/>
                    </a:solidFill>
                    <a:lnL w="9525" cap="flat">
                      <a:noFill/>
                    </a:lnL>
                    <a:lnR w="9525" cap="flat">
                      <a:noFill/>
                    </a:lnR>
                    <a:lnT w="9525" cap="flat">
                      <a:noFill/>
                    </a:lnT>
                    <a:lnB w="9525" cap="flat">
                      <a:solidFill>
                        <a:srgbClr val="E2E6EA"/>
                      </a:solidFill>
                    </a:lnB>
                  </a:tcPr>
                </a:tc>
                <a:tc>
                  <a:txBody>
                    <a:bodyPr wrap="square"/>
                    <a:lstStyle/>
                    <a:p>
                      <a:pPr algn="r">
                        <a:lnSpc>
                          <a:spcPct val="105000"/>
                        </a:lnSpc>
                      </a:pPr>
                      <a:r>
                        <a:rPr sz="1000" b="1">
                          <a:solidFill>
                            <a:srgbClr val="1A1A1A"/>
                          </a:solidFill>
                          <a:latin typeface="DejaVu Sans"/>
                        </a:rPr>
                        <a:t>21</a:t>
                      </a:r>
                    </a:p>
                    <a:p>
                      <a:pPr algn="r">
                        <a:lnSpc>
                          <a:spcPct val="105000"/>
                        </a:lnSpc>
                      </a:pPr>
                      <a:r>
                        <a:rPr sz="850" b="0">
                          <a:solidFill>
                            <a:srgbClr val="6A6A6A"/>
                          </a:solidFill>
                          <a:latin typeface="DejaVu Sans"/>
                        </a:rPr>
                        <a:t>20 to 22</a:t>
                      </a:r>
                    </a:p>
                  </a:txBody>
                  <a:tcPr marL="128016" marR="128016" marT="36576" marB="36576" anchor="ctr">
                    <a:solidFill>
                      <a:srgbClr val="FFFFFF"/>
                    </a:solidFill>
                    <a:lnL w="9525" cap="flat">
                      <a:noFill/>
                    </a:lnL>
                    <a:lnR w="9525" cap="flat">
                      <a:noFill/>
                    </a:lnR>
                    <a:lnT w="9525" cap="flat">
                      <a:noFill/>
                    </a:lnT>
                    <a:lnB w="9525" cap="flat">
                      <a:solidFill>
                        <a:srgbClr val="E2E6EA"/>
                      </a:solidFill>
                    </a:lnB>
                  </a:tcPr>
                </a:tc>
              </a:tr>
              <a:tr h="475488">
                <a:tc>
                  <a:txBody>
                    <a:bodyPr wrap="square"/>
                    <a:lstStyle/>
                    <a:p>
                      <a:pPr algn="l">
                        <a:lnSpc>
                          <a:spcPct val="105000"/>
                        </a:lnSpc>
                      </a:pPr>
                      <a:r>
                        <a:rPr sz="1000" b="0">
                          <a:solidFill>
                            <a:srgbClr val="1A1A1A"/>
                          </a:solidFill>
                          <a:latin typeface="DejaVu Sans"/>
                        </a:rPr>
                        <a:t>Median venue impact</a:t>
                      </a:r>
                    </a:p>
                  </a:txBody>
                  <a:tcPr marL="128016" marR="128016" marT="36576" marB="36576" anchor="ctr">
                    <a:solidFill>
                      <a:srgbClr val="FBFCFD"/>
                    </a:solidFill>
                    <a:lnL w="9525" cap="flat">
                      <a:noFill/>
                    </a:lnL>
                    <a:lnR w="9525" cap="flat">
                      <a:noFill/>
                    </a:lnR>
                    <a:lnT w="9525" cap="flat">
                      <a:noFill/>
                    </a:lnT>
                    <a:lnB w="9525" cap="flat">
                      <a:solidFill>
                        <a:srgbClr val="E2E6EA"/>
                      </a:solidFill>
                    </a:lnB>
                  </a:tcPr>
                </a:tc>
                <a:tc>
                  <a:txBody>
                    <a:bodyPr wrap="square"/>
                    <a:lstStyle/>
                    <a:p>
                      <a:pPr algn="r">
                        <a:lnSpc>
                          <a:spcPct val="105000"/>
                        </a:lnSpc>
                      </a:pPr>
                      <a:r>
                        <a:rPr sz="1000" b="1">
                          <a:solidFill>
                            <a:srgbClr val="1A1A1A"/>
                          </a:solidFill>
                          <a:latin typeface="DejaVu Sans"/>
                        </a:rPr>
                        <a:t>3.26</a:t>
                      </a:r>
                    </a:p>
                    <a:p>
                      <a:pPr algn="r">
                        <a:lnSpc>
                          <a:spcPct val="105000"/>
                        </a:lnSpc>
                      </a:pPr>
                      <a:r>
                        <a:rPr sz="850" b="0">
                          <a:solidFill>
                            <a:srgbClr val="6A6A6A"/>
                          </a:solidFill>
                          <a:latin typeface="DejaVu Sans"/>
                        </a:rPr>
                        <a:t>3.13 to 3.44</a:t>
                      </a:r>
                    </a:p>
                  </a:txBody>
                  <a:tcPr marL="128016" marR="128016" marT="36576" marB="36576" anchor="ctr">
                    <a:solidFill>
                      <a:srgbClr val="FBFCFD"/>
                    </a:solidFill>
                    <a:lnL w="9525" cap="flat">
                      <a:noFill/>
                    </a:lnL>
                    <a:lnR w="9525" cap="flat">
                      <a:noFill/>
                    </a:lnR>
                    <a:lnT w="9525" cap="flat">
                      <a:noFill/>
                    </a:lnT>
                    <a:lnB w="9525" cap="flat">
                      <a:solidFill>
                        <a:srgbClr val="E2E6EA"/>
                      </a:solidFill>
                    </a:lnB>
                  </a:tcPr>
                </a:tc>
                <a:tc>
                  <a:txBody>
                    <a:bodyPr wrap="square"/>
                    <a:lstStyle/>
                    <a:p>
                      <a:pPr algn="r">
                        <a:lnSpc>
                          <a:spcPct val="105000"/>
                        </a:lnSpc>
                      </a:pPr>
                      <a:r>
                        <a:rPr sz="1000" b="1">
                          <a:solidFill>
                            <a:srgbClr val="1A1A1A"/>
                          </a:solidFill>
                          <a:latin typeface="DejaVu Sans"/>
                        </a:rPr>
                        <a:t>4.17</a:t>
                      </a:r>
                    </a:p>
                    <a:p>
                      <a:pPr algn="r">
                        <a:lnSpc>
                          <a:spcPct val="105000"/>
                        </a:lnSpc>
                      </a:pPr>
                      <a:r>
                        <a:rPr sz="850" b="0">
                          <a:solidFill>
                            <a:srgbClr val="6A6A6A"/>
                          </a:solidFill>
                          <a:latin typeface="DejaVu Sans"/>
                        </a:rPr>
                        <a:t>3.97 to 4.33</a:t>
                      </a:r>
                    </a:p>
                  </a:txBody>
                  <a:tcPr marL="128016" marR="128016" marT="36576" marB="36576" anchor="ctr">
                    <a:solidFill>
                      <a:srgbClr val="FBFCFD"/>
                    </a:solidFill>
                    <a:lnL w="9525" cap="flat">
                      <a:noFill/>
                    </a:lnL>
                    <a:lnR w="9525" cap="flat">
                      <a:noFill/>
                    </a:lnR>
                    <a:lnT w="9525" cap="flat">
                      <a:noFill/>
                    </a:lnT>
                    <a:lnB w="9525" cap="flat">
                      <a:solidFill>
                        <a:srgbClr val="E2E6EA"/>
                      </a:solidFill>
                    </a:lnB>
                  </a:tcPr>
                </a:tc>
                <a:tc>
                  <a:txBody>
                    <a:bodyPr wrap="square"/>
                    <a:lstStyle/>
                    <a:p>
                      <a:pPr algn="r">
                        <a:lnSpc>
                          <a:spcPct val="105000"/>
                        </a:lnSpc>
                      </a:pPr>
                      <a:r>
                        <a:rPr sz="1000" b="1">
                          <a:solidFill>
                            <a:srgbClr val="1A1A1A"/>
                          </a:solidFill>
                          <a:latin typeface="DejaVu Sans"/>
                        </a:rPr>
                        <a:t>5.87</a:t>
                      </a:r>
                    </a:p>
                    <a:p>
                      <a:pPr algn="r">
                        <a:lnSpc>
                          <a:spcPct val="105000"/>
                        </a:lnSpc>
                      </a:pPr>
                      <a:r>
                        <a:rPr sz="850" b="0">
                          <a:solidFill>
                            <a:srgbClr val="6A6A6A"/>
                          </a:solidFill>
                          <a:latin typeface="DejaVu Sans"/>
                        </a:rPr>
                        <a:t>5.64 to 5.93</a:t>
                      </a:r>
                    </a:p>
                  </a:txBody>
                  <a:tcPr marL="128016" marR="128016" marT="36576" marB="36576" anchor="ctr">
                    <a:solidFill>
                      <a:srgbClr val="FBFCFD"/>
                    </a:solidFill>
                    <a:lnL w="9525" cap="flat">
                      <a:noFill/>
                    </a:lnL>
                    <a:lnR w="9525" cap="flat">
                      <a:noFill/>
                    </a:lnR>
                    <a:lnT w="9525" cap="flat">
                      <a:noFill/>
                    </a:lnT>
                    <a:lnB w="9525" cap="flat">
                      <a:solidFill>
                        <a:srgbClr val="E2E6EA"/>
                      </a:solidFill>
                    </a:lnB>
                  </a:tcPr>
                </a:tc>
              </a:tr>
              <a:tr h="475488">
                <a:tc>
                  <a:txBody>
                    <a:bodyPr wrap="square"/>
                    <a:lstStyle/>
                    <a:p>
                      <a:pPr algn="l">
                        <a:lnSpc>
                          <a:spcPct val="105000"/>
                        </a:lnSpc>
                      </a:pPr>
                      <a:r>
                        <a:rPr sz="1000" b="0">
                          <a:solidFill>
                            <a:srgbClr val="1A1A1A"/>
                          </a:solidFill>
                          <a:latin typeface="DejaVu Sans"/>
                        </a:rPr>
                        <a:t>Share in top-quartile venues</a:t>
                      </a:r>
                    </a:p>
                  </a:txBody>
                  <a:tcPr marL="128016" marR="128016" marT="36576" marB="36576" anchor="ctr">
                    <a:solidFill>
                      <a:srgbClr val="FFFFFF"/>
                    </a:solidFill>
                    <a:lnL w="9525" cap="flat">
                      <a:noFill/>
                    </a:lnL>
                    <a:lnR w="9525" cap="flat">
                      <a:noFill/>
                    </a:lnR>
                    <a:lnT w="9525" cap="flat">
                      <a:noFill/>
                    </a:lnT>
                    <a:lnB w="9525" cap="flat">
                      <a:solidFill>
                        <a:srgbClr val="E2E6EA"/>
                      </a:solidFill>
                    </a:lnB>
                  </a:tcPr>
                </a:tc>
                <a:tc>
                  <a:txBody>
                    <a:bodyPr wrap="square"/>
                    <a:lstStyle/>
                    <a:p>
                      <a:pPr algn="r">
                        <a:lnSpc>
                          <a:spcPct val="105000"/>
                        </a:lnSpc>
                      </a:pPr>
                      <a:r>
                        <a:rPr sz="1000" b="1">
                          <a:solidFill>
                            <a:srgbClr val="1A1A1A"/>
                          </a:solidFill>
                          <a:latin typeface="DejaVu Sans"/>
                        </a:rPr>
                        <a:t>0.09</a:t>
                      </a:r>
                    </a:p>
                    <a:p>
                      <a:pPr algn="r">
                        <a:lnSpc>
                          <a:spcPct val="105000"/>
                        </a:lnSpc>
                      </a:pPr>
                      <a:r>
                        <a:rPr sz="850" b="0">
                          <a:solidFill>
                            <a:srgbClr val="6A6A6A"/>
                          </a:solidFill>
                          <a:latin typeface="DejaVu Sans"/>
                        </a:rPr>
                        <a:t>0.08 to 0.11</a:t>
                      </a:r>
                    </a:p>
                  </a:txBody>
                  <a:tcPr marL="128016" marR="128016" marT="36576" marB="36576" anchor="ctr">
                    <a:solidFill>
                      <a:srgbClr val="FFFFFF"/>
                    </a:solidFill>
                    <a:lnL w="9525" cap="flat">
                      <a:noFill/>
                    </a:lnL>
                    <a:lnR w="9525" cap="flat">
                      <a:noFill/>
                    </a:lnR>
                    <a:lnT w="9525" cap="flat">
                      <a:noFill/>
                    </a:lnT>
                    <a:lnB w="9525" cap="flat">
                      <a:solidFill>
                        <a:srgbClr val="E2E6EA"/>
                      </a:solidFill>
                    </a:lnB>
                  </a:tcPr>
                </a:tc>
                <a:tc>
                  <a:txBody>
                    <a:bodyPr wrap="square"/>
                    <a:lstStyle/>
                    <a:p>
                      <a:pPr algn="r">
                        <a:lnSpc>
                          <a:spcPct val="105000"/>
                        </a:lnSpc>
                      </a:pPr>
                      <a:r>
                        <a:rPr sz="1000" b="1">
                          <a:solidFill>
                            <a:srgbClr val="1A1A1A"/>
                          </a:solidFill>
                          <a:latin typeface="DejaVu Sans"/>
                        </a:rPr>
                        <a:t>0.21</a:t>
                      </a:r>
                    </a:p>
                    <a:p>
                      <a:pPr algn="r">
                        <a:lnSpc>
                          <a:spcPct val="105000"/>
                        </a:lnSpc>
                      </a:pPr>
                      <a:r>
                        <a:rPr sz="850" b="0">
                          <a:solidFill>
                            <a:srgbClr val="6A6A6A"/>
                          </a:solidFill>
                          <a:latin typeface="DejaVu Sans"/>
                        </a:rPr>
                        <a:t>0.20 to 0.23</a:t>
                      </a:r>
                    </a:p>
                  </a:txBody>
                  <a:tcPr marL="128016" marR="128016" marT="36576" marB="36576" anchor="ctr">
                    <a:solidFill>
                      <a:srgbClr val="FFFFFF"/>
                    </a:solidFill>
                    <a:lnL w="9525" cap="flat">
                      <a:noFill/>
                    </a:lnL>
                    <a:lnR w="9525" cap="flat">
                      <a:noFill/>
                    </a:lnR>
                    <a:lnT w="9525" cap="flat">
                      <a:noFill/>
                    </a:lnT>
                    <a:lnB w="9525" cap="flat">
                      <a:solidFill>
                        <a:srgbClr val="E2E6EA"/>
                      </a:solidFill>
                    </a:lnB>
                  </a:tcPr>
                </a:tc>
                <a:tc>
                  <a:txBody>
                    <a:bodyPr wrap="square"/>
                    <a:lstStyle/>
                    <a:p>
                      <a:pPr algn="r">
                        <a:lnSpc>
                          <a:spcPct val="105000"/>
                        </a:lnSpc>
                      </a:pPr>
                      <a:r>
                        <a:rPr sz="1000" b="1">
                          <a:solidFill>
                            <a:srgbClr val="1A1A1A"/>
                          </a:solidFill>
                          <a:latin typeface="DejaVu Sans"/>
                        </a:rPr>
                        <a:t>0.36</a:t>
                      </a:r>
                    </a:p>
                    <a:p>
                      <a:pPr algn="r">
                        <a:lnSpc>
                          <a:spcPct val="105000"/>
                        </a:lnSpc>
                      </a:pPr>
                      <a:r>
                        <a:rPr sz="850" b="0">
                          <a:solidFill>
                            <a:srgbClr val="6A6A6A"/>
                          </a:solidFill>
                          <a:latin typeface="DejaVu Sans"/>
                        </a:rPr>
                        <a:t>0.33 to 0.38</a:t>
                      </a:r>
                    </a:p>
                  </a:txBody>
                  <a:tcPr marL="128016" marR="128016" marT="36576" marB="36576" anchor="ctr">
                    <a:solidFill>
                      <a:srgbClr val="FFFFFF"/>
                    </a:solidFill>
                    <a:lnL w="9525" cap="flat">
                      <a:noFill/>
                    </a:lnL>
                    <a:lnR w="9525" cap="flat">
                      <a:noFill/>
                    </a:lnR>
                    <a:lnT w="9525" cap="flat">
                      <a:noFill/>
                    </a:lnT>
                    <a:lnB w="9525" cap="flat">
                      <a:solidFill>
                        <a:srgbClr val="E2E6EA"/>
                      </a:solidFill>
                    </a:lnB>
                  </a:tcPr>
                </a:tc>
              </a:tr>
            </a:tbl>
          </a:graphicData>
        </a:graphic>
      </p:graphicFrame>
      <p:sp>
        <p:nvSpPr>
          <p:cNvPr id="7" name="Rounded Rectangle 6"/>
          <p:cNvSpPr/>
          <p:nvPr/>
        </p:nvSpPr>
        <p:spPr>
          <a:xfrm>
            <a:off x="8540496" y="1755648"/>
            <a:ext cx="3084271" cy="3803904"/>
          </a:xfrm>
          <a:prstGeom prst="roundRect">
            <a:avLst>
              <a:gd name="adj" fmla="val 6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96528" y="2011680"/>
            <a:ext cx="2572207" cy="219456"/>
          </a:xfrm>
          <a:prstGeom prst="rect">
            <a:avLst/>
          </a:prstGeom>
          <a:noFill/>
        </p:spPr>
        <p:txBody>
          <a:bodyPr wrap="square" lIns="0" rIns="0" tIns="0" bIns="0">
            <a:spAutoFit/>
          </a:bodyPr>
          <a:lstStyle/>
          <a:p>
            <a:pPr algn="l">
              <a:lnSpc>
                <a:spcPct val="125000"/>
              </a:lnSpc>
              <a:spcAft>
                <a:spcPts val="0"/>
              </a:spcAft>
            </a:pPr>
            <a:r>
              <a:rPr sz="900" b="1">
                <a:solidFill>
                  <a:srgbClr val="C1440E"/>
                </a:solidFill>
                <a:latin typeface="DejaVu Sans"/>
              </a:rPr>
              <a:t>HOW TO READ A ROW</a:t>
            </a:r>
          </a:p>
        </p:txBody>
      </p:sp>
      <p:sp>
        <p:nvSpPr>
          <p:cNvPr id="9" name="TextBox 8"/>
          <p:cNvSpPr txBox="1"/>
          <p:nvPr/>
        </p:nvSpPr>
        <p:spPr>
          <a:xfrm>
            <a:off x="8796528" y="2359152"/>
            <a:ext cx="2572207" cy="2926080"/>
          </a:xfrm>
          <a:prstGeom prst="rect">
            <a:avLst/>
          </a:prstGeom>
          <a:noFill/>
        </p:spPr>
        <p:txBody>
          <a:bodyPr wrap="square" lIns="0" rIns="0" tIns="0" bIns="0">
            <a:spAutoFit/>
          </a:bodyPr>
          <a:lstStyle/>
          <a:p>
            <a:pPr algn="l">
              <a:lnSpc>
                <a:spcPct val="130000"/>
              </a:lnSpc>
              <a:spcAft>
                <a:spcPts val="0"/>
              </a:spcAft>
            </a:pPr>
            <a:r>
              <a:rPr sz="1100" b="0">
                <a:solidFill>
                  <a:srgbClr val="1A1A1A"/>
                </a:solidFill>
                <a:latin typeface="DejaVu Sans"/>
              </a:rPr>
              <a:t>A quarter of the cohort was below the first number.</a:t>
            </a:r>
          </a:p>
          <a:p>
            <a:pPr algn="l">
              <a:lnSpc>
                <a:spcPct val="130000"/>
              </a:lnSpc>
              <a:spcAft>
                <a:spcPts val="0"/>
              </a:spcAft>
            </a:pPr>
            <a:r>
              <a:rPr sz="1100" b="0">
                <a:solidFill>
                  <a:srgbClr val="1A1A1A"/>
                </a:solidFill>
                <a:latin typeface="DejaVu Sans"/>
              </a:rPr>
              <a:t/>
            </a:r>
          </a:p>
          <a:p>
            <a:pPr algn="l">
              <a:lnSpc>
                <a:spcPct val="130000"/>
              </a:lnSpc>
              <a:spcAft>
                <a:spcPts val="0"/>
              </a:spcAft>
            </a:pPr>
            <a:r>
              <a:rPr sz="1100" b="0">
                <a:solidFill>
                  <a:srgbClr val="1A1A1A"/>
                </a:solidFill>
                <a:latin typeface="DejaVu Sans"/>
              </a:rPr>
              <a:t>Half was below the middle one.</a:t>
            </a:r>
          </a:p>
          <a:p>
            <a:pPr algn="l">
              <a:lnSpc>
                <a:spcPct val="130000"/>
              </a:lnSpc>
              <a:spcAft>
                <a:spcPts val="0"/>
              </a:spcAft>
            </a:pPr>
            <a:r>
              <a:rPr sz="1100" b="0">
                <a:solidFill>
                  <a:srgbClr val="1A1A1A"/>
                </a:solidFill>
                <a:latin typeface="DejaVu Sans"/>
              </a:rPr>
              <a:t/>
            </a:r>
          </a:p>
          <a:p>
            <a:pPr algn="l">
              <a:lnSpc>
                <a:spcPct val="130000"/>
              </a:lnSpc>
              <a:spcAft>
                <a:spcPts val="0"/>
              </a:spcAft>
            </a:pPr>
            <a:r>
              <a:rPr sz="1100" b="0">
                <a:solidFill>
                  <a:srgbClr val="1A1A1A"/>
                </a:solidFill>
                <a:latin typeface="DejaVu Sans"/>
              </a:rPr>
              <a:t>A quarter was above the last.</a:t>
            </a:r>
          </a:p>
          <a:p>
            <a:pPr algn="l">
              <a:lnSpc>
                <a:spcPct val="130000"/>
              </a:lnSpc>
              <a:spcAft>
                <a:spcPts val="0"/>
              </a:spcAft>
            </a:pPr>
            <a:r>
              <a:rPr sz="1100" b="0">
                <a:solidFill>
                  <a:srgbClr val="1A1A1A"/>
                </a:solidFill>
                <a:latin typeface="DejaVu Sans"/>
              </a:rPr>
              <a:t/>
            </a:r>
          </a:p>
          <a:p>
            <a:pPr algn="l">
              <a:lnSpc>
                <a:spcPct val="130000"/>
              </a:lnSpc>
              <a:spcAft>
                <a:spcPts val="0"/>
              </a:spcAft>
            </a:pPr>
            <a:r>
              <a:rPr sz="1100" b="0">
                <a:solidFill>
                  <a:srgbClr val="1A1A1A"/>
                </a:solidFill>
                <a:latin typeface="DejaVu Sans"/>
              </a:rPr>
              <a:t>The smaller figures are 95% confidence intervals from a cluster bootstrap that resamples people, not papers, because one person's papers are not independent of each other. A wide interval means the number should be leaned on lightly.</a:t>
            </a:r>
          </a:p>
        </p:txBody>
      </p:sp>
      <p:sp>
        <p:nvSpPr>
          <p:cNvPr id="10" name="TextBox 9"/>
          <p:cNvSpPr txBox="1"/>
          <p:nvPr/>
        </p:nvSpPr>
        <p:spPr>
          <a:xfrm>
            <a:off x="566928" y="5760720"/>
            <a:ext cx="10607040" cy="384048"/>
          </a:xfrm>
          <a:prstGeom prst="rect">
            <a:avLst/>
          </a:prstGeom>
          <a:noFill/>
        </p:spPr>
        <p:txBody>
          <a:bodyPr wrap="square" lIns="0" rIns="0" tIns="0" bIns="0">
            <a:spAutoFit/>
          </a:bodyPr>
          <a:lstStyle/>
          <a:p>
            <a:pPr algn="l">
              <a:lnSpc>
                <a:spcPct val="120000"/>
              </a:lnSpc>
              <a:spcAft>
                <a:spcPts val="0"/>
              </a:spcAft>
            </a:pPr>
            <a:r>
              <a:rPr sz="950" b="0">
                <a:solidFill>
                  <a:srgbClr val="6A6A6A"/>
                </a:solidFill>
                <a:latin typeface="DejaVu Sans"/>
              </a:rPr>
              <a:t>A top-quartile venue is top quartile inside this cohort's own venue list, not against a global journal ranking, because citation rates differ enormously between subfields.</a:t>
            </a:r>
          </a:p>
        </p:txBody>
      </p:sp>
      <p:sp>
        <p:nvSpPr>
          <p:cNvPr id="11" name="Rectangle 10"/>
          <p:cNvSpPr/>
          <p:nvPr/>
        </p:nvSpPr>
        <p:spPr>
          <a:xfrm>
            <a:off x="566928" y="6199632"/>
            <a:ext cx="11057839" cy="10972"/>
          </a:xfrm>
          <a:prstGeom prst="rect">
            <a:avLst/>
          </a:prstGeom>
          <a:solidFill>
            <a:srgbClr val="E2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6272784"/>
            <a:ext cx="10424160" cy="274320"/>
          </a:xfrm>
          <a:prstGeom prst="rect">
            <a:avLst/>
          </a:prstGeom>
          <a:noFill/>
        </p:spPr>
        <p:txBody>
          <a:bodyPr wrap="square" lIns="0" rIns="0" tIns="0" bIns="0">
            <a:spAutoFit/>
          </a:bodyPr>
          <a:lstStyle/>
          <a:p>
            <a:pPr algn="l">
              <a:lnSpc>
                <a:spcPct val="125000"/>
              </a:lnSpc>
              <a:spcAft>
                <a:spcPts val="0"/>
              </a:spcAft>
            </a:pPr>
            <a:r>
              <a:rPr sz="850" b="0">
                <a:solidFill>
                  <a:srgbClr val="6A6A6A"/>
                </a:solidFill>
                <a:latin typeface="DejaVu Sans"/>
              </a:rPr>
              <a:t>Taylor D. Sparks  |  materials chemistry  |  cohort of 1,091 at career year 6  |  aggregates only, and a description rather than a standard</a:t>
            </a:r>
          </a:p>
        </p:txBody>
      </p:sp>
      <p:sp>
        <p:nvSpPr>
          <p:cNvPr id="13" name="TextBox 12"/>
          <p:cNvSpPr txBox="1"/>
          <p:nvPr/>
        </p:nvSpPr>
        <p:spPr>
          <a:xfrm>
            <a:off x="11167567" y="6272784"/>
            <a:ext cx="457200" cy="274320"/>
          </a:xfrm>
          <a:prstGeom prst="rect">
            <a:avLst/>
          </a:prstGeom>
          <a:noFill/>
        </p:spPr>
        <p:txBody>
          <a:bodyPr wrap="square" lIns="0" rIns="0" tIns="0" bIns="0">
            <a:spAutoFit/>
          </a:bodyPr>
          <a:lstStyle/>
          <a:p>
            <a:pPr algn="r">
              <a:lnSpc>
                <a:spcPct val="125000"/>
              </a:lnSpc>
              <a:spcAft>
                <a:spcPts val="0"/>
              </a:spcAft>
            </a:pPr>
            <a:r>
              <a:rPr sz="850" b="0">
                <a:solidFill>
                  <a:srgbClr val="6A6A6A"/>
                </a:solidFill>
                <a:latin typeface="DejaVu San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01168"/>
          </a:xfrm>
          <a:prstGeom prst="rect">
            <a:avLst/>
          </a:prstGeom>
          <a:noFill/>
        </p:spPr>
        <p:txBody>
          <a:bodyPr wrap="square" lIns="0" rIns="0" tIns="0" bIns="0">
            <a:spAutoFit/>
          </a:bodyPr>
          <a:lstStyle/>
          <a:p>
            <a:pPr algn="l">
              <a:lnSpc>
                <a:spcPct val="125000"/>
              </a:lnSpc>
              <a:spcAft>
                <a:spcPts val="0"/>
              </a:spcAft>
            </a:pPr>
            <a:r>
              <a:rPr sz="900" b="1">
                <a:solidFill>
                  <a:srgbClr val="C1440E"/>
                </a:solidFill>
                <a:latin typeface="DejaVu Sans"/>
              </a:rPr>
              <a:t>4. HOW IT WAS BUILT</a:t>
            </a:r>
          </a:p>
        </p:txBody>
      </p:sp>
      <p:sp>
        <p:nvSpPr>
          <p:cNvPr id="3" name="TextBox 2"/>
          <p:cNvSpPr txBox="1"/>
          <p:nvPr/>
        </p:nvSpPr>
        <p:spPr>
          <a:xfrm>
            <a:off x="566928" y="566928"/>
            <a:ext cx="11057839" cy="502920"/>
          </a:xfrm>
          <a:prstGeom prst="rect">
            <a:avLst/>
          </a:prstGeom>
          <a:noFill/>
        </p:spPr>
        <p:txBody>
          <a:bodyPr wrap="square" lIns="0" rIns="0" tIns="0" bIns="0">
            <a:spAutoFit/>
          </a:bodyPr>
          <a:lstStyle/>
          <a:p>
            <a:pPr algn="l">
              <a:lnSpc>
                <a:spcPct val="125000"/>
              </a:lnSpc>
              <a:spcAft>
                <a:spcPts val="0"/>
              </a:spcAft>
            </a:pPr>
            <a:r>
              <a:rPr sz="2500" b="1">
                <a:solidFill>
                  <a:srgbClr val="1A1A1A"/>
                </a:solidFill>
                <a:latin typeface="DejaVu Sans"/>
              </a:rPr>
              <a:t>Who ended up in the cohort</a:t>
            </a:r>
          </a:p>
        </p:txBody>
      </p:sp>
      <p:sp>
        <p:nvSpPr>
          <p:cNvPr id="4" name="Rectangle 3"/>
          <p:cNvSpPr/>
          <p:nvPr/>
        </p:nvSpPr>
        <p:spPr>
          <a:xfrm>
            <a:off x="566928" y="1115568"/>
            <a:ext cx="786384" cy="32004"/>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225296"/>
            <a:ext cx="10424160" cy="457200"/>
          </a:xfrm>
          <a:prstGeom prst="rect">
            <a:avLst/>
          </a:prstGeom>
          <a:noFill/>
        </p:spPr>
        <p:txBody>
          <a:bodyPr wrap="square" lIns="0" rIns="0" tIns="0" bIns="0">
            <a:spAutoFit/>
          </a:bodyPr>
          <a:lstStyle/>
          <a:p>
            <a:pPr algn="l">
              <a:lnSpc>
                <a:spcPct val="125000"/>
              </a:lnSpc>
              <a:spcAft>
                <a:spcPts val="0"/>
              </a:spcAft>
            </a:pPr>
            <a:r>
              <a:rPr sz="1350" b="0">
                <a:solidFill>
                  <a:srgbClr val="6A6A6A"/>
                </a:solidFill>
                <a:latin typeface="DejaVu Sans"/>
              </a:rPr>
              <a:t>The slide to read first when a cohort looks wrong: a step that removes almost everybody, or almost nobody, is the one to question.</a:t>
            </a:r>
          </a:p>
        </p:txBody>
      </p:sp>
      <p:pic>
        <p:nvPicPr>
          <p:cNvPr id="6" name="Picture 5" descr="deck-funnel.png"/>
          <p:cNvPicPr>
            <a:picLocks noChangeAspect="1"/>
          </p:cNvPicPr>
          <p:nvPr/>
        </p:nvPicPr>
        <p:blipFill>
          <a:blip r:embed="rId2"/>
          <a:stretch>
            <a:fillRect/>
          </a:stretch>
        </p:blipFill>
        <p:spPr>
          <a:xfrm>
            <a:off x="850153" y="1755648"/>
            <a:ext cx="6291549" cy="3803904"/>
          </a:xfrm>
          <a:prstGeom prst="rect">
            <a:avLst/>
          </a:prstGeom>
        </p:spPr>
      </p:pic>
      <p:sp>
        <p:nvSpPr>
          <p:cNvPr id="7" name="Rounded Rectangle 6"/>
          <p:cNvSpPr/>
          <p:nvPr/>
        </p:nvSpPr>
        <p:spPr>
          <a:xfrm>
            <a:off x="7754112" y="1755648"/>
            <a:ext cx="3870655" cy="3803904"/>
          </a:xfrm>
          <a:prstGeom prst="roundRect">
            <a:avLst>
              <a:gd name="adj" fmla="val 6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10144" y="2011680"/>
            <a:ext cx="3358591" cy="219456"/>
          </a:xfrm>
          <a:prstGeom prst="rect">
            <a:avLst/>
          </a:prstGeom>
          <a:noFill/>
        </p:spPr>
        <p:txBody>
          <a:bodyPr wrap="square" lIns="0" rIns="0" tIns="0" bIns="0">
            <a:spAutoFit/>
          </a:bodyPr>
          <a:lstStyle/>
          <a:p>
            <a:pPr algn="l">
              <a:lnSpc>
                <a:spcPct val="125000"/>
              </a:lnSpc>
              <a:spcAft>
                <a:spcPts val="0"/>
              </a:spcAft>
            </a:pPr>
            <a:r>
              <a:rPr sz="900" b="1">
                <a:solidFill>
                  <a:srgbClr val="C1440E"/>
                </a:solidFill>
                <a:latin typeface="DejaVu Sans"/>
              </a:rPr>
              <a:t>THE SUBFIELD, AS DEFINED HERE</a:t>
            </a:r>
          </a:p>
        </p:txBody>
      </p:sp>
      <p:sp>
        <p:nvSpPr>
          <p:cNvPr id="9" name="TextBox 8"/>
          <p:cNvSpPr txBox="1"/>
          <p:nvPr/>
        </p:nvSpPr>
        <p:spPr>
          <a:xfrm>
            <a:off x="8010144" y="2322576"/>
            <a:ext cx="3358591" cy="1737360"/>
          </a:xfrm>
          <a:prstGeom prst="rect">
            <a:avLst/>
          </a:prstGeom>
          <a:noFill/>
        </p:spPr>
        <p:txBody>
          <a:bodyPr wrap="square" lIns="0" rIns="0" tIns="0" bIns="0">
            <a:spAutoFit/>
          </a:bodyPr>
          <a:lstStyle/>
          <a:p>
            <a:pPr algn="l">
              <a:lnSpc>
                <a:spcPct val="145000"/>
              </a:lnSpc>
              <a:spcAft>
                <a:spcPts val="0"/>
              </a:spcAft>
            </a:pPr>
            <a:r>
              <a:rPr sz="1100" b="0">
                <a:solidFill>
                  <a:srgbClr val="1A1A1A"/>
                </a:solidFill>
                <a:latin typeface="DejaVu Sans"/>
              </a:rPr>
              <a:t>Machine Learning in Materials Science</a:t>
            </a:r>
          </a:p>
          <a:p>
            <a:pPr algn="l">
              <a:lnSpc>
                <a:spcPct val="145000"/>
              </a:lnSpc>
              <a:spcAft>
                <a:spcPts val="0"/>
              </a:spcAft>
            </a:pPr>
            <a:r>
              <a:rPr sz="1100" b="0">
                <a:solidFill>
                  <a:srgbClr val="1A1A1A"/>
                </a:solidFill>
                <a:latin typeface="DejaVu Sans"/>
              </a:rPr>
              <a:t>Advanced Thermoelectric Materials and Devices</a:t>
            </a:r>
          </a:p>
          <a:p>
            <a:pPr algn="l">
              <a:lnSpc>
                <a:spcPct val="145000"/>
              </a:lnSpc>
              <a:spcAft>
                <a:spcPts val="0"/>
              </a:spcAft>
            </a:pPr>
            <a:r>
              <a:rPr sz="1100" b="0">
                <a:solidFill>
                  <a:srgbClr val="1A1A1A"/>
                </a:solidFill>
                <a:latin typeface="DejaVu Sans"/>
              </a:rPr>
              <a:t>Topological Materials and Phenomena</a:t>
            </a:r>
          </a:p>
          <a:p>
            <a:pPr algn="l">
              <a:lnSpc>
                <a:spcPct val="145000"/>
              </a:lnSpc>
              <a:spcAft>
                <a:spcPts val="0"/>
              </a:spcAft>
            </a:pPr>
            <a:r>
              <a:rPr sz="1100" b="0">
                <a:solidFill>
                  <a:srgbClr val="1A1A1A"/>
                </a:solidFill>
                <a:latin typeface="DejaVu Sans"/>
              </a:rPr>
              <a:t>Advancements in Battery Materials</a:t>
            </a:r>
          </a:p>
          <a:p>
            <a:pPr algn="l">
              <a:lnSpc>
                <a:spcPct val="145000"/>
              </a:lnSpc>
              <a:spcAft>
                <a:spcPts val="0"/>
              </a:spcAft>
            </a:pPr>
            <a:r>
              <a:rPr sz="1100" b="0">
                <a:solidFill>
                  <a:srgbClr val="1A1A1A"/>
                </a:solidFill>
                <a:latin typeface="DejaVu Sans"/>
              </a:rPr>
              <a:t>Advancements in Solid Oxide Fuel Cells</a:t>
            </a:r>
          </a:p>
          <a:p>
            <a:pPr algn="l">
              <a:lnSpc>
                <a:spcPct val="145000"/>
              </a:lnSpc>
              <a:spcAft>
                <a:spcPts val="0"/>
              </a:spcAft>
            </a:pPr>
            <a:r>
              <a:rPr sz="1100" b="0">
                <a:solidFill>
                  <a:srgbClr val="1A1A1A"/>
                </a:solidFill>
                <a:latin typeface="DejaVu Sans"/>
              </a:rPr>
              <a:t>Bone Tissue Engineering Materials</a:t>
            </a:r>
          </a:p>
        </p:txBody>
      </p:sp>
      <p:sp>
        <p:nvSpPr>
          <p:cNvPr id="10" name="TextBox 9"/>
          <p:cNvSpPr txBox="1"/>
          <p:nvPr/>
        </p:nvSpPr>
        <p:spPr>
          <a:xfrm>
            <a:off x="8010144" y="4242816"/>
            <a:ext cx="3358591" cy="1097280"/>
          </a:xfrm>
          <a:prstGeom prst="rect">
            <a:avLst/>
          </a:prstGeom>
          <a:noFill/>
        </p:spPr>
        <p:txBody>
          <a:bodyPr wrap="square" lIns="0" rIns="0" tIns="0" bIns="0">
            <a:spAutoFit/>
          </a:bodyPr>
          <a:lstStyle/>
          <a:p>
            <a:pPr algn="l">
              <a:lnSpc>
                <a:spcPct val="130000"/>
              </a:lnSpc>
              <a:spcAft>
                <a:spcPts val="0"/>
              </a:spcAft>
            </a:pPr>
            <a:r>
              <a:rPr sz="1000" b="0">
                <a:solidFill>
                  <a:srgbClr val="6A6A6A"/>
                </a:solidFill>
                <a:latin typeface="DejaVu Sans"/>
              </a:rPr>
              <a:t>The cohort is people whose work sits in these topics and whose first independent appointment could be dated confidently from their bylines. It is not everyone in the subfield, and the people it drops are not a random sample of it.</a:t>
            </a:r>
          </a:p>
        </p:txBody>
      </p:sp>
      <p:sp>
        <p:nvSpPr>
          <p:cNvPr id="11" name="TextBox 10"/>
          <p:cNvSpPr txBox="1"/>
          <p:nvPr/>
        </p:nvSpPr>
        <p:spPr>
          <a:xfrm>
            <a:off x="566928" y="5760720"/>
            <a:ext cx="10607040" cy="384048"/>
          </a:xfrm>
          <a:prstGeom prst="rect">
            <a:avLst/>
          </a:prstGeom>
          <a:noFill/>
        </p:spPr>
        <p:txBody>
          <a:bodyPr wrap="square" lIns="0" rIns="0" tIns="0" bIns="0">
            <a:spAutoFit/>
          </a:bodyPr>
          <a:lstStyle/>
          <a:p>
            <a:pPr algn="l">
              <a:lnSpc>
                <a:spcPct val="120000"/>
              </a:lnSpc>
              <a:spcAft>
                <a:spcPts val="0"/>
              </a:spcAft>
            </a:pPr>
            <a:r>
              <a:rPr sz="950" b="0">
                <a:solidFill>
                  <a:srgbClr val="6A6A6A"/>
                </a:solidFill>
                <a:latin typeface="DejaVu Sans"/>
              </a:rPr>
              <a:t>Drawn on a log scale so every step stays visible. The exact rule for each one is in results/funnel.csv and in docs/methods.md.</a:t>
            </a:r>
          </a:p>
        </p:txBody>
      </p:sp>
      <p:sp>
        <p:nvSpPr>
          <p:cNvPr id="12" name="Rectangle 11"/>
          <p:cNvSpPr/>
          <p:nvPr/>
        </p:nvSpPr>
        <p:spPr>
          <a:xfrm>
            <a:off x="566928" y="6199632"/>
            <a:ext cx="11057839" cy="10972"/>
          </a:xfrm>
          <a:prstGeom prst="rect">
            <a:avLst/>
          </a:prstGeom>
          <a:solidFill>
            <a:srgbClr val="E2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6272784"/>
            <a:ext cx="10424160" cy="274320"/>
          </a:xfrm>
          <a:prstGeom prst="rect">
            <a:avLst/>
          </a:prstGeom>
          <a:noFill/>
        </p:spPr>
        <p:txBody>
          <a:bodyPr wrap="square" lIns="0" rIns="0" tIns="0" bIns="0">
            <a:spAutoFit/>
          </a:bodyPr>
          <a:lstStyle/>
          <a:p>
            <a:pPr algn="l">
              <a:lnSpc>
                <a:spcPct val="125000"/>
              </a:lnSpc>
              <a:spcAft>
                <a:spcPts val="0"/>
              </a:spcAft>
            </a:pPr>
            <a:r>
              <a:rPr sz="850" b="0">
                <a:solidFill>
                  <a:srgbClr val="6A6A6A"/>
                </a:solidFill>
                <a:latin typeface="DejaVu Sans"/>
              </a:rPr>
              <a:t>Taylor D. Sparks  |  materials chemistry  |  cohort of 1,091 at career year 6  |  aggregates only, and a description rather than a standard</a:t>
            </a:r>
          </a:p>
        </p:txBody>
      </p:sp>
      <p:sp>
        <p:nvSpPr>
          <p:cNvPr id="14" name="TextBox 13"/>
          <p:cNvSpPr txBox="1"/>
          <p:nvPr/>
        </p:nvSpPr>
        <p:spPr>
          <a:xfrm>
            <a:off x="11167567" y="6272784"/>
            <a:ext cx="457200" cy="274320"/>
          </a:xfrm>
          <a:prstGeom prst="rect">
            <a:avLst/>
          </a:prstGeom>
          <a:noFill/>
        </p:spPr>
        <p:txBody>
          <a:bodyPr wrap="square" lIns="0" rIns="0" tIns="0" bIns="0">
            <a:spAutoFit/>
          </a:bodyPr>
          <a:lstStyle/>
          <a:p>
            <a:pPr algn="r">
              <a:lnSpc>
                <a:spcPct val="125000"/>
              </a:lnSpc>
              <a:spcAft>
                <a:spcPts val="0"/>
              </a:spcAft>
            </a:pPr>
            <a:r>
              <a:rPr sz="850" b="0">
                <a:solidFill>
                  <a:srgbClr val="6A6A6A"/>
                </a:solidFill>
                <a:latin typeface="DejaVu San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01168"/>
          </a:xfrm>
          <a:prstGeom prst="rect">
            <a:avLst/>
          </a:prstGeom>
          <a:noFill/>
        </p:spPr>
        <p:txBody>
          <a:bodyPr wrap="square" lIns="0" rIns="0" tIns="0" bIns="0">
            <a:spAutoFit/>
          </a:bodyPr>
          <a:lstStyle/>
          <a:p>
            <a:pPr algn="l">
              <a:lnSpc>
                <a:spcPct val="125000"/>
              </a:lnSpc>
              <a:spcAft>
                <a:spcPts val="0"/>
              </a:spcAft>
            </a:pPr>
            <a:r>
              <a:rPr sz="900" b="1">
                <a:solidFill>
                  <a:srgbClr val="C1440E"/>
                </a:solidFill>
                <a:latin typeface="DejaVu Sans"/>
              </a:rPr>
              <a:t>5. THE VENUES</a:t>
            </a:r>
          </a:p>
        </p:txBody>
      </p:sp>
      <p:sp>
        <p:nvSpPr>
          <p:cNvPr id="3" name="TextBox 2"/>
          <p:cNvSpPr txBox="1"/>
          <p:nvPr/>
        </p:nvSpPr>
        <p:spPr>
          <a:xfrm>
            <a:off x="566928" y="566928"/>
            <a:ext cx="11057839" cy="502920"/>
          </a:xfrm>
          <a:prstGeom prst="rect">
            <a:avLst/>
          </a:prstGeom>
          <a:noFill/>
        </p:spPr>
        <p:txBody>
          <a:bodyPr wrap="square" lIns="0" rIns="0" tIns="0" bIns="0">
            <a:spAutoFit/>
          </a:bodyPr>
          <a:lstStyle/>
          <a:p>
            <a:pPr algn="l">
              <a:lnSpc>
                <a:spcPct val="125000"/>
              </a:lnSpc>
              <a:spcAft>
                <a:spcPts val="0"/>
              </a:spcAft>
            </a:pPr>
            <a:r>
              <a:rPr sz="2500" b="1">
                <a:solidFill>
                  <a:srgbClr val="1A1A1A"/>
                </a:solidFill>
                <a:latin typeface="DejaVu Sans"/>
              </a:rPr>
              <a:t>Where this subfield publishes</a:t>
            </a:r>
          </a:p>
        </p:txBody>
      </p:sp>
      <p:sp>
        <p:nvSpPr>
          <p:cNvPr id="4" name="Rectangle 3"/>
          <p:cNvSpPr/>
          <p:nvPr/>
        </p:nvSpPr>
        <p:spPr>
          <a:xfrm>
            <a:off x="566928" y="1115568"/>
            <a:ext cx="786384" cy="32004"/>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225296"/>
            <a:ext cx="10424160" cy="457200"/>
          </a:xfrm>
          <a:prstGeom prst="rect">
            <a:avLst/>
          </a:prstGeom>
          <a:noFill/>
        </p:spPr>
        <p:txBody>
          <a:bodyPr wrap="square" lIns="0" rIns="0" tIns="0" bIns="0">
            <a:spAutoFit/>
          </a:bodyPr>
          <a:lstStyle/>
          <a:p>
            <a:pPr algn="l">
              <a:lnSpc>
                <a:spcPct val="125000"/>
              </a:lnSpc>
              <a:spcAft>
                <a:spcPts val="0"/>
              </a:spcAft>
            </a:pPr>
            <a:r>
              <a:rPr sz="1350" b="0">
                <a:solidFill>
                  <a:srgbClr val="6A6A6A"/>
                </a:solidFill>
                <a:latin typeface="DejaVu Sans"/>
              </a:rPr>
              <a:t>The journals the cohort used most, so that a top-quartile venue can be checked against titles rather than taken on trust.  The right column is how much of that work the cohort led.</a:t>
            </a:r>
          </a:p>
        </p:txBody>
      </p:sp>
      <p:pic>
        <p:nvPicPr>
          <p:cNvPr id="6" name="Picture 5" descr="deck-venues.png"/>
          <p:cNvPicPr>
            <a:picLocks noChangeAspect="1"/>
          </p:cNvPicPr>
          <p:nvPr/>
        </p:nvPicPr>
        <p:blipFill>
          <a:blip r:embed="rId2"/>
          <a:stretch>
            <a:fillRect/>
          </a:stretch>
        </p:blipFill>
        <p:spPr>
          <a:xfrm>
            <a:off x="902471" y="1737360"/>
            <a:ext cx="10386752" cy="3840480"/>
          </a:xfrm>
          <a:prstGeom prst="rect">
            <a:avLst/>
          </a:prstGeom>
        </p:spPr>
      </p:pic>
      <p:sp>
        <p:nvSpPr>
          <p:cNvPr id="7" name="TextBox 6"/>
          <p:cNvSpPr txBox="1"/>
          <p:nvPr/>
        </p:nvSpPr>
        <p:spPr>
          <a:xfrm>
            <a:off x="566928" y="5815584"/>
            <a:ext cx="10607040" cy="384048"/>
          </a:xfrm>
          <a:prstGeom prst="rect">
            <a:avLst/>
          </a:prstGeom>
          <a:noFill/>
        </p:spPr>
        <p:txBody>
          <a:bodyPr wrap="square" lIns="0" rIns="0" tIns="0" bIns="0">
            <a:spAutoFit/>
          </a:bodyPr>
          <a:lstStyle/>
          <a:p>
            <a:pPr algn="l">
              <a:lnSpc>
                <a:spcPct val="120000"/>
              </a:lnSpc>
              <a:spcAft>
                <a:spcPts val="0"/>
              </a:spcAft>
            </a:pPr>
            <a:r>
              <a:rPr sz="950" b="0">
                <a:solidFill>
                  <a:srgbClr val="6A6A6A"/>
                </a:solidFill>
                <a:latin typeface="DejaVu Sans"/>
              </a:rPr>
              <a:t>The figure in brackets is the journal's 2-year mean citedness, a property of the journal and not of any paper in it. A title near the top of this list with an impact near zero is usually a conference abstract series that OpenAlex types as a journal, counted throughout.</a:t>
            </a:r>
          </a:p>
        </p:txBody>
      </p:sp>
      <p:sp>
        <p:nvSpPr>
          <p:cNvPr id="8" name="Rectangle 7"/>
          <p:cNvSpPr/>
          <p:nvPr/>
        </p:nvSpPr>
        <p:spPr>
          <a:xfrm>
            <a:off x="566928" y="6199632"/>
            <a:ext cx="11057839" cy="10972"/>
          </a:xfrm>
          <a:prstGeom prst="rect">
            <a:avLst/>
          </a:prstGeom>
          <a:solidFill>
            <a:srgbClr val="E2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272784"/>
            <a:ext cx="10424160" cy="274320"/>
          </a:xfrm>
          <a:prstGeom prst="rect">
            <a:avLst/>
          </a:prstGeom>
          <a:noFill/>
        </p:spPr>
        <p:txBody>
          <a:bodyPr wrap="square" lIns="0" rIns="0" tIns="0" bIns="0">
            <a:spAutoFit/>
          </a:bodyPr>
          <a:lstStyle/>
          <a:p>
            <a:pPr algn="l">
              <a:lnSpc>
                <a:spcPct val="125000"/>
              </a:lnSpc>
              <a:spcAft>
                <a:spcPts val="0"/>
              </a:spcAft>
            </a:pPr>
            <a:r>
              <a:rPr sz="850" b="0">
                <a:solidFill>
                  <a:srgbClr val="6A6A6A"/>
                </a:solidFill>
                <a:latin typeface="DejaVu Sans"/>
              </a:rPr>
              <a:t>Taylor D. Sparks  |  materials chemistry  |  cohort of 1,091 at career year 6  |  aggregates only, and a description rather than a standard</a:t>
            </a:r>
          </a:p>
        </p:txBody>
      </p:sp>
      <p:sp>
        <p:nvSpPr>
          <p:cNvPr id="10" name="TextBox 9"/>
          <p:cNvSpPr txBox="1"/>
          <p:nvPr/>
        </p:nvSpPr>
        <p:spPr>
          <a:xfrm>
            <a:off x="11167567" y="6272784"/>
            <a:ext cx="457200" cy="274320"/>
          </a:xfrm>
          <a:prstGeom prst="rect">
            <a:avLst/>
          </a:prstGeom>
          <a:noFill/>
        </p:spPr>
        <p:txBody>
          <a:bodyPr wrap="square" lIns="0" rIns="0" tIns="0" bIns="0">
            <a:spAutoFit/>
          </a:bodyPr>
          <a:lstStyle/>
          <a:p>
            <a:pPr algn="r">
              <a:lnSpc>
                <a:spcPct val="125000"/>
              </a:lnSpc>
              <a:spcAft>
                <a:spcPts val="0"/>
              </a:spcAft>
            </a:pPr>
            <a:r>
              <a:rPr sz="850" b="0">
                <a:solidFill>
                  <a:srgbClr val="6A6A6A"/>
                </a:solidFill>
                <a:latin typeface="DejaVu San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01168"/>
          </a:xfrm>
          <a:prstGeom prst="rect">
            <a:avLst/>
          </a:prstGeom>
          <a:noFill/>
        </p:spPr>
        <p:txBody>
          <a:bodyPr wrap="square" lIns="0" rIns="0" tIns="0" bIns="0">
            <a:spAutoFit/>
          </a:bodyPr>
          <a:lstStyle/>
          <a:p>
            <a:pPr algn="l">
              <a:lnSpc>
                <a:spcPct val="125000"/>
              </a:lnSpc>
              <a:spcAft>
                <a:spcPts val="0"/>
              </a:spcAft>
            </a:pPr>
            <a:r>
              <a:rPr sz="900" b="1">
                <a:solidFill>
                  <a:srgbClr val="C1440E"/>
                </a:solidFill>
                <a:latin typeface="DejaVu Sans"/>
              </a:rPr>
              <a:t>6. LED AGAINST CO-AUTHORED</a:t>
            </a:r>
          </a:p>
        </p:txBody>
      </p:sp>
      <p:sp>
        <p:nvSpPr>
          <p:cNvPr id="3" name="TextBox 2"/>
          <p:cNvSpPr txBox="1"/>
          <p:nvPr/>
        </p:nvSpPr>
        <p:spPr>
          <a:xfrm>
            <a:off x="566928" y="566928"/>
            <a:ext cx="11057839" cy="502920"/>
          </a:xfrm>
          <a:prstGeom prst="rect">
            <a:avLst/>
          </a:prstGeom>
          <a:noFill/>
        </p:spPr>
        <p:txBody>
          <a:bodyPr wrap="square" lIns="0" rIns="0" tIns="0" bIns="0">
            <a:spAutoFit/>
          </a:bodyPr>
          <a:lstStyle/>
          <a:p>
            <a:pPr algn="l">
              <a:lnSpc>
                <a:spcPct val="125000"/>
              </a:lnSpc>
              <a:spcAft>
                <a:spcPts val="0"/>
              </a:spcAft>
            </a:pPr>
            <a:r>
              <a:rPr sz="2500" b="1">
                <a:solidFill>
                  <a:srgbClr val="1A1A1A"/>
                </a:solidFill>
                <a:latin typeface="DejaVu Sans"/>
              </a:rPr>
              <a:t>Who leads the papers that reach the best venues</a:t>
            </a:r>
          </a:p>
        </p:txBody>
      </p:sp>
      <p:sp>
        <p:nvSpPr>
          <p:cNvPr id="4" name="Rectangle 3"/>
          <p:cNvSpPr/>
          <p:nvPr/>
        </p:nvSpPr>
        <p:spPr>
          <a:xfrm>
            <a:off x="566928" y="1115568"/>
            <a:ext cx="786384" cy="32004"/>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225296"/>
            <a:ext cx="10424160" cy="457200"/>
          </a:xfrm>
          <a:prstGeom prst="rect">
            <a:avLst/>
          </a:prstGeom>
          <a:noFill/>
        </p:spPr>
        <p:txBody>
          <a:bodyPr wrap="square" lIns="0" rIns="0" tIns="0" bIns="0">
            <a:spAutoFit/>
          </a:bodyPr>
          <a:lstStyle/>
          <a:p>
            <a:pPr algn="l">
              <a:lnSpc>
                <a:spcPct val="125000"/>
              </a:lnSpc>
              <a:spcAft>
                <a:spcPts val="0"/>
              </a:spcAft>
            </a:pPr>
            <a:r>
              <a:rPr sz="1350" b="0">
                <a:solidFill>
                  <a:srgbClr val="6A6A6A"/>
                </a:solidFill>
                <a:latin typeface="DejaVu Sans"/>
              </a:rPr>
              <a:t>For the same people over the same window: when a paper reached a top-quartile venue, was this person leading it? The left reading is dominated by whoever wrote the most papers; on the right every person is their own control.</a:t>
            </a:r>
          </a:p>
        </p:txBody>
      </p:sp>
      <p:pic>
        <p:nvPicPr>
          <p:cNvPr id="6" name="Picture 5" descr="deck-roles.png"/>
          <p:cNvPicPr>
            <a:picLocks noChangeAspect="1"/>
          </p:cNvPicPr>
          <p:nvPr/>
        </p:nvPicPr>
        <p:blipFill>
          <a:blip r:embed="rId2"/>
          <a:stretch>
            <a:fillRect/>
          </a:stretch>
        </p:blipFill>
        <p:spPr>
          <a:xfrm>
            <a:off x="1045780" y="1810512"/>
            <a:ext cx="10100134" cy="3310128"/>
          </a:xfrm>
          <a:prstGeom prst="rect">
            <a:avLst/>
          </a:prstGeom>
        </p:spPr>
      </p:pic>
      <p:sp>
        <p:nvSpPr>
          <p:cNvPr id="7" name="TextBox 6"/>
          <p:cNvSpPr txBox="1"/>
          <p:nvPr/>
        </p:nvSpPr>
        <p:spPr>
          <a:xfrm>
            <a:off x="566928" y="5468112"/>
            <a:ext cx="10607040" cy="365760"/>
          </a:xfrm>
          <a:prstGeom prst="rect">
            <a:avLst/>
          </a:prstGeom>
          <a:noFill/>
        </p:spPr>
        <p:txBody>
          <a:bodyPr wrap="square" lIns="0" rIns="0" tIns="0" bIns="0">
            <a:spAutoFit/>
          </a:bodyPr>
          <a:lstStyle/>
          <a:p>
            <a:pPr algn="l">
              <a:lnSpc>
                <a:spcPct val="125000"/>
              </a:lnSpc>
              <a:spcAft>
                <a:spcPts val="0"/>
              </a:spcAft>
            </a:pPr>
            <a:r>
              <a:rPr sz="1150" b="0">
                <a:solidFill>
                  <a:srgbClr val="1A1A1A"/>
                </a:solidFill>
                <a:latin typeface="DejaVu Sans"/>
              </a:rPr>
              <a:t>Pooled, the cohort's work reached a top-quartile venue 2.8% more often when its members were not leading it (95% confidence interval +0.6% to +5.0%). Where the two readings disagree, that disagreement is the finding.</a:t>
            </a:r>
          </a:p>
        </p:txBody>
      </p:sp>
      <p:sp>
        <p:nvSpPr>
          <p:cNvPr id="8" name="TextBox 7"/>
          <p:cNvSpPr txBox="1"/>
          <p:nvPr/>
        </p:nvSpPr>
        <p:spPr>
          <a:xfrm>
            <a:off x="566928" y="5852160"/>
            <a:ext cx="10607040" cy="384048"/>
          </a:xfrm>
          <a:prstGeom prst="rect">
            <a:avLst/>
          </a:prstGeom>
          <a:noFill/>
        </p:spPr>
        <p:txBody>
          <a:bodyPr wrap="square" lIns="0" rIns="0" tIns="0" bIns="0">
            <a:spAutoFit/>
          </a:bodyPr>
          <a:lstStyle/>
          <a:p>
            <a:pPr algn="l">
              <a:lnSpc>
                <a:spcPct val="120000"/>
              </a:lnSpc>
              <a:spcAft>
                <a:spcPts val="0"/>
              </a:spcAft>
            </a:pPr>
            <a:r>
              <a:rPr sz="950" b="0">
                <a:solidFill>
                  <a:srgbClr val="6A6A6A"/>
                </a:solidFill>
                <a:latin typeface="DejaVu Sans"/>
              </a:rPr>
              <a:t>After Sekara et al., PNAS 2018 (doi 10.1073/pnas.1800471115), which followed authors through time. This is a cross-sectional approximation: the direction of a difference is informative, its size should not be read against their figures.</a:t>
            </a:r>
          </a:p>
        </p:txBody>
      </p:sp>
      <p:sp>
        <p:nvSpPr>
          <p:cNvPr id="9" name="Rectangle 8"/>
          <p:cNvSpPr/>
          <p:nvPr/>
        </p:nvSpPr>
        <p:spPr>
          <a:xfrm>
            <a:off x="566928" y="6199632"/>
            <a:ext cx="11057839" cy="10972"/>
          </a:xfrm>
          <a:prstGeom prst="rect">
            <a:avLst/>
          </a:prstGeom>
          <a:solidFill>
            <a:srgbClr val="E2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272784"/>
            <a:ext cx="10424160" cy="274320"/>
          </a:xfrm>
          <a:prstGeom prst="rect">
            <a:avLst/>
          </a:prstGeom>
          <a:noFill/>
        </p:spPr>
        <p:txBody>
          <a:bodyPr wrap="square" lIns="0" rIns="0" tIns="0" bIns="0">
            <a:spAutoFit/>
          </a:bodyPr>
          <a:lstStyle/>
          <a:p>
            <a:pPr algn="l">
              <a:lnSpc>
                <a:spcPct val="125000"/>
              </a:lnSpc>
              <a:spcAft>
                <a:spcPts val="0"/>
              </a:spcAft>
            </a:pPr>
            <a:r>
              <a:rPr sz="850" b="0">
                <a:solidFill>
                  <a:srgbClr val="6A6A6A"/>
                </a:solidFill>
                <a:latin typeface="DejaVu Sans"/>
              </a:rPr>
              <a:t>Taylor D. Sparks  |  materials chemistry  |  cohort of 1,091 at career year 6  |  aggregates only, and a description rather than a standard</a:t>
            </a:r>
          </a:p>
        </p:txBody>
      </p:sp>
      <p:sp>
        <p:nvSpPr>
          <p:cNvPr id="11" name="TextBox 10"/>
          <p:cNvSpPr txBox="1"/>
          <p:nvPr/>
        </p:nvSpPr>
        <p:spPr>
          <a:xfrm>
            <a:off x="11167567" y="6272784"/>
            <a:ext cx="457200" cy="274320"/>
          </a:xfrm>
          <a:prstGeom prst="rect">
            <a:avLst/>
          </a:prstGeom>
          <a:noFill/>
        </p:spPr>
        <p:txBody>
          <a:bodyPr wrap="square" lIns="0" rIns="0" tIns="0" bIns="0">
            <a:spAutoFit/>
          </a:bodyPr>
          <a:lstStyle/>
          <a:p>
            <a:pPr algn="r">
              <a:lnSpc>
                <a:spcPct val="125000"/>
              </a:lnSpc>
              <a:spcAft>
                <a:spcPts val="0"/>
              </a:spcAft>
            </a:pPr>
            <a:r>
              <a:rPr sz="850" b="0">
                <a:solidFill>
                  <a:srgbClr val="6A6A6A"/>
                </a:solidFill>
                <a:latin typeface="DejaVu San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01168"/>
          </a:xfrm>
          <a:prstGeom prst="rect">
            <a:avLst/>
          </a:prstGeom>
          <a:noFill/>
        </p:spPr>
        <p:txBody>
          <a:bodyPr wrap="square" lIns="0" rIns="0" tIns="0" bIns="0">
            <a:spAutoFit/>
          </a:bodyPr>
          <a:lstStyle/>
          <a:p>
            <a:pPr algn="l">
              <a:lnSpc>
                <a:spcPct val="125000"/>
              </a:lnSpc>
              <a:spcAft>
                <a:spcPts val="0"/>
              </a:spcAft>
            </a:pPr>
            <a:r>
              <a:rPr sz="900" b="1">
                <a:solidFill>
                  <a:srgbClr val="C1440E"/>
                </a:solidFill>
                <a:latin typeface="DejaVu Sans"/>
              </a:rPr>
              <a:t>LIMITS</a:t>
            </a:r>
          </a:p>
        </p:txBody>
      </p:sp>
      <p:sp>
        <p:nvSpPr>
          <p:cNvPr id="3" name="TextBox 2"/>
          <p:cNvSpPr txBox="1"/>
          <p:nvPr/>
        </p:nvSpPr>
        <p:spPr>
          <a:xfrm>
            <a:off x="566928" y="566928"/>
            <a:ext cx="11057839" cy="502920"/>
          </a:xfrm>
          <a:prstGeom prst="rect">
            <a:avLst/>
          </a:prstGeom>
          <a:noFill/>
        </p:spPr>
        <p:txBody>
          <a:bodyPr wrap="square" lIns="0" rIns="0" tIns="0" bIns="0">
            <a:spAutoFit/>
          </a:bodyPr>
          <a:lstStyle/>
          <a:p>
            <a:pPr algn="l">
              <a:lnSpc>
                <a:spcPct val="125000"/>
              </a:lnSpc>
              <a:spcAft>
                <a:spcPts val="0"/>
              </a:spcAft>
            </a:pPr>
            <a:r>
              <a:rPr sz="2500" b="1">
                <a:solidFill>
                  <a:srgbClr val="1A1A1A"/>
                </a:solidFill>
                <a:latin typeface="DejaVu Sans"/>
              </a:rPr>
              <a:t>What this cannot see</a:t>
            </a:r>
          </a:p>
        </p:txBody>
      </p:sp>
      <p:sp>
        <p:nvSpPr>
          <p:cNvPr id="4" name="Rectangle 3"/>
          <p:cNvSpPr/>
          <p:nvPr/>
        </p:nvSpPr>
        <p:spPr>
          <a:xfrm>
            <a:off x="566928" y="1115568"/>
            <a:ext cx="786384" cy="32004"/>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225296"/>
            <a:ext cx="10424160" cy="457200"/>
          </a:xfrm>
          <a:prstGeom prst="rect">
            <a:avLst/>
          </a:prstGeom>
          <a:noFill/>
        </p:spPr>
        <p:txBody>
          <a:bodyPr wrap="square" lIns="0" rIns="0" tIns="0" bIns="0">
            <a:spAutoFit/>
          </a:bodyPr>
          <a:lstStyle/>
          <a:p>
            <a:pPr algn="l">
              <a:lnSpc>
                <a:spcPct val="125000"/>
              </a:lnSpc>
              <a:spcAft>
                <a:spcPts val="0"/>
              </a:spcAft>
            </a:pPr>
            <a:r>
              <a:rPr sz="1350" b="0">
                <a:solidFill>
                  <a:srgbClr val="6A6A6A"/>
                </a:solidFill>
                <a:latin typeface="DejaVu Sans"/>
              </a:rPr>
              <a:t>Six things to hold in mind before this deck is used for anything.</a:t>
            </a:r>
          </a:p>
        </p:txBody>
      </p:sp>
      <p:sp>
        <p:nvSpPr>
          <p:cNvPr id="6" name="Rectangle 5"/>
          <p:cNvSpPr/>
          <p:nvPr/>
        </p:nvSpPr>
        <p:spPr>
          <a:xfrm>
            <a:off x="566928" y="1755648"/>
            <a:ext cx="384048" cy="23774"/>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901952"/>
            <a:ext cx="5300319" cy="274320"/>
          </a:xfrm>
          <a:prstGeom prst="rect">
            <a:avLst/>
          </a:prstGeom>
          <a:noFill/>
        </p:spPr>
        <p:txBody>
          <a:bodyPr wrap="square" lIns="0" rIns="0" tIns="0" bIns="0">
            <a:spAutoFit/>
          </a:bodyPr>
          <a:lstStyle/>
          <a:p>
            <a:pPr algn="l">
              <a:lnSpc>
                <a:spcPct val="125000"/>
              </a:lnSpc>
              <a:spcAft>
                <a:spcPts val="0"/>
              </a:spcAft>
            </a:pPr>
            <a:r>
              <a:rPr sz="1250" b="1">
                <a:solidFill>
                  <a:srgbClr val="1A1A1A"/>
                </a:solidFill>
                <a:latin typeface="DejaVu Sans"/>
              </a:rPr>
              <a:t>A publication record is not a person.</a:t>
            </a:r>
          </a:p>
        </p:txBody>
      </p:sp>
      <p:sp>
        <p:nvSpPr>
          <p:cNvPr id="8" name="TextBox 7"/>
          <p:cNvSpPr txBox="1"/>
          <p:nvPr/>
        </p:nvSpPr>
        <p:spPr>
          <a:xfrm>
            <a:off x="566928" y="2231136"/>
            <a:ext cx="5300319" cy="640080"/>
          </a:xfrm>
          <a:prstGeom prst="rect">
            <a:avLst/>
          </a:prstGeom>
          <a:noFill/>
        </p:spPr>
        <p:txBody>
          <a:bodyPr wrap="square" lIns="0" rIns="0" tIns="0" bIns="0">
            <a:spAutoFit/>
          </a:bodyPr>
          <a:lstStyle/>
          <a:p>
            <a:pPr algn="l">
              <a:lnSpc>
                <a:spcPct val="130000"/>
              </a:lnSpc>
              <a:spcAft>
                <a:spcPts val="0"/>
              </a:spcAft>
            </a:pPr>
            <a:r>
              <a:rPr sz="1050" b="0">
                <a:solidFill>
                  <a:srgbClr val="6A6A6A"/>
                </a:solidFill>
                <a:latin typeface="DejaVu Sans"/>
              </a:rPr>
              <a:t>Teaching, mentoring, service, funding, software, datasets and public scholarship do not appear in OpenAlex.</a:t>
            </a:r>
          </a:p>
        </p:txBody>
      </p:sp>
      <p:sp>
        <p:nvSpPr>
          <p:cNvPr id="9" name="Rectangle 8"/>
          <p:cNvSpPr/>
          <p:nvPr/>
        </p:nvSpPr>
        <p:spPr>
          <a:xfrm>
            <a:off x="6324447" y="1755648"/>
            <a:ext cx="384048" cy="23774"/>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24447" y="1901952"/>
            <a:ext cx="5300319" cy="274320"/>
          </a:xfrm>
          <a:prstGeom prst="rect">
            <a:avLst/>
          </a:prstGeom>
          <a:noFill/>
        </p:spPr>
        <p:txBody>
          <a:bodyPr wrap="square" lIns="0" rIns="0" tIns="0" bIns="0">
            <a:spAutoFit/>
          </a:bodyPr>
          <a:lstStyle/>
          <a:p>
            <a:pPr algn="l">
              <a:lnSpc>
                <a:spcPct val="125000"/>
              </a:lnSpc>
              <a:spcAft>
                <a:spcPts val="0"/>
              </a:spcAft>
            </a:pPr>
            <a:r>
              <a:rPr sz="1250" b="1">
                <a:solidFill>
                  <a:srgbClr val="1A1A1A"/>
                </a:solidFill>
                <a:latin typeface="DejaVu Sans"/>
              </a:rPr>
              <a:t>Citations are shown and never placed.</a:t>
            </a:r>
          </a:p>
        </p:txBody>
      </p:sp>
      <p:sp>
        <p:nvSpPr>
          <p:cNvPr id="11" name="TextBox 10"/>
          <p:cNvSpPr txBox="1"/>
          <p:nvPr/>
        </p:nvSpPr>
        <p:spPr>
          <a:xfrm>
            <a:off x="6324447" y="2231136"/>
            <a:ext cx="5300319" cy="640080"/>
          </a:xfrm>
          <a:prstGeom prst="rect">
            <a:avLst/>
          </a:prstGeom>
          <a:noFill/>
        </p:spPr>
        <p:txBody>
          <a:bodyPr wrap="square" lIns="0" rIns="0" tIns="0" bIns="0">
            <a:spAutoFit/>
          </a:bodyPr>
          <a:lstStyle/>
          <a:p>
            <a:pPr algn="l">
              <a:lnSpc>
                <a:spcPct val="130000"/>
              </a:lnSpc>
              <a:spcAft>
                <a:spcPts val="0"/>
              </a:spcAft>
            </a:pPr>
            <a:r>
              <a:rPr sz="1050" b="0">
                <a:solidFill>
                  <a:srgbClr val="6A6A6A"/>
                </a:solidFill>
                <a:latin typeface="DejaVu Sans"/>
              </a:rPr>
              <a:t>The cohort's papers here are years older, and citations accumulate with time.</a:t>
            </a:r>
          </a:p>
        </p:txBody>
      </p:sp>
      <p:sp>
        <p:nvSpPr>
          <p:cNvPr id="12" name="Rectangle 11"/>
          <p:cNvSpPr/>
          <p:nvPr/>
        </p:nvSpPr>
        <p:spPr>
          <a:xfrm>
            <a:off x="566928" y="2980944"/>
            <a:ext cx="384048" cy="23774"/>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3127248"/>
            <a:ext cx="5300319" cy="274320"/>
          </a:xfrm>
          <a:prstGeom prst="rect">
            <a:avLst/>
          </a:prstGeom>
          <a:noFill/>
        </p:spPr>
        <p:txBody>
          <a:bodyPr wrap="square" lIns="0" rIns="0" tIns="0" bIns="0">
            <a:spAutoFit/>
          </a:bodyPr>
          <a:lstStyle/>
          <a:p>
            <a:pPr algn="l">
              <a:lnSpc>
                <a:spcPct val="125000"/>
              </a:lnSpc>
              <a:spcAft>
                <a:spcPts val="0"/>
              </a:spcAft>
            </a:pPr>
            <a:r>
              <a:rPr sz="1250" b="1">
                <a:solidFill>
                  <a:srgbClr val="1A1A1A"/>
                </a:solidFill>
                <a:latin typeface="DejaVu Sans"/>
              </a:rPr>
              <a:t>Career start is inferred, not looked up.</a:t>
            </a:r>
          </a:p>
        </p:txBody>
      </p:sp>
      <p:sp>
        <p:nvSpPr>
          <p:cNvPr id="14" name="TextBox 13"/>
          <p:cNvSpPr txBox="1"/>
          <p:nvPr/>
        </p:nvSpPr>
        <p:spPr>
          <a:xfrm>
            <a:off x="566928" y="3456432"/>
            <a:ext cx="5300319" cy="640080"/>
          </a:xfrm>
          <a:prstGeom prst="rect">
            <a:avLst/>
          </a:prstGeom>
          <a:noFill/>
        </p:spPr>
        <p:txBody>
          <a:bodyPr wrap="square" lIns="0" rIns="0" tIns="0" bIns="0">
            <a:spAutoFit/>
          </a:bodyPr>
          <a:lstStyle/>
          <a:p>
            <a:pPr algn="l">
              <a:lnSpc>
                <a:spcPct val="130000"/>
              </a:lnSpc>
              <a:spcAft>
                <a:spcPts val="0"/>
              </a:spcAft>
            </a:pPr>
            <a:r>
              <a:rPr sz="1050" b="0">
                <a:solidFill>
                  <a:srgbClr val="6A6A6A"/>
                </a:solidFill>
                <a:latin typeface="DejaVu Sans"/>
              </a:rPr>
              <a:t>It comes from publication patterns. Clinical appointments, parental leave and delayed starts are invisible to it.</a:t>
            </a:r>
          </a:p>
        </p:txBody>
      </p:sp>
      <p:sp>
        <p:nvSpPr>
          <p:cNvPr id="15" name="Rectangle 14"/>
          <p:cNvSpPr/>
          <p:nvPr/>
        </p:nvSpPr>
        <p:spPr>
          <a:xfrm>
            <a:off x="6324447" y="2980944"/>
            <a:ext cx="384048" cy="23774"/>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4447" y="3127248"/>
            <a:ext cx="5300319" cy="274320"/>
          </a:xfrm>
          <a:prstGeom prst="rect">
            <a:avLst/>
          </a:prstGeom>
          <a:noFill/>
        </p:spPr>
        <p:txBody>
          <a:bodyPr wrap="square" lIns="0" rIns="0" tIns="0" bIns="0">
            <a:spAutoFit/>
          </a:bodyPr>
          <a:lstStyle/>
          <a:p>
            <a:pPr algn="l">
              <a:lnSpc>
                <a:spcPct val="125000"/>
              </a:lnSpc>
              <a:spcAft>
                <a:spcPts val="0"/>
              </a:spcAft>
            </a:pPr>
            <a:r>
              <a:rPr sz="1250" b="1">
                <a:solidFill>
                  <a:srgbClr val="1A1A1A"/>
                </a:solidFill>
                <a:latin typeface="DejaVu Sans"/>
              </a:rPr>
              <a:t>The missing people are not a random sample.</a:t>
            </a:r>
          </a:p>
        </p:txBody>
      </p:sp>
      <p:sp>
        <p:nvSpPr>
          <p:cNvPr id="17" name="TextBox 16"/>
          <p:cNvSpPr txBox="1"/>
          <p:nvPr/>
        </p:nvSpPr>
        <p:spPr>
          <a:xfrm>
            <a:off x="6324447" y="3456432"/>
            <a:ext cx="5300319" cy="640080"/>
          </a:xfrm>
          <a:prstGeom prst="rect">
            <a:avLst/>
          </a:prstGeom>
          <a:noFill/>
        </p:spPr>
        <p:txBody>
          <a:bodyPr wrap="square" lIns="0" rIns="0" tIns="0" bIns="0">
            <a:spAutoFit/>
          </a:bodyPr>
          <a:lstStyle/>
          <a:p>
            <a:pPr algn="l">
              <a:lnSpc>
                <a:spcPct val="130000"/>
              </a:lnSpc>
              <a:spcAft>
                <a:spcPts val="0"/>
              </a:spcAft>
            </a:pPr>
            <a:r>
              <a:rPr sz="1050" b="0">
                <a:solidFill>
                  <a:srgbClr val="6A6A6A"/>
                </a:solidFill>
                <a:latin typeface="DejaVu Sans"/>
              </a:rPr>
              <a:t>OpenAlex splits some profiles and merges others, so the cohort tilts toward distinctive names.</a:t>
            </a:r>
          </a:p>
        </p:txBody>
      </p:sp>
      <p:sp>
        <p:nvSpPr>
          <p:cNvPr id="18" name="Rectangle 17"/>
          <p:cNvSpPr/>
          <p:nvPr/>
        </p:nvSpPr>
        <p:spPr>
          <a:xfrm>
            <a:off x="566928" y="4206240"/>
            <a:ext cx="384048" cy="23774"/>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4352544"/>
            <a:ext cx="5300319" cy="274320"/>
          </a:xfrm>
          <a:prstGeom prst="rect">
            <a:avLst/>
          </a:prstGeom>
          <a:noFill/>
        </p:spPr>
        <p:txBody>
          <a:bodyPr wrap="square" lIns="0" rIns="0" tIns="0" bIns="0">
            <a:spAutoFit/>
          </a:bodyPr>
          <a:lstStyle/>
          <a:p>
            <a:pPr algn="l">
              <a:lnSpc>
                <a:spcPct val="125000"/>
              </a:lnSpc>
              <a:spcAft>
                <a:spcPts val="0"/>
              </a:spcAft>
            </a:pPr>
            <a:r>
              <a:rPr sz="1250" b="1">
                <a:solidFill>
                  <a:srgbClr val="1A1A1A"/>
                </a:solidFill>
                <a:latin typeface="DejaVu Sans"/>
              </a:rPr>
              <a:t>Journal impact says nothing about a paper.</a:t>
            </a:r>
          </a:p>
        </p:txBody>
      </p:sp>
      <p:sp>
        <p:nvSpPr>
          <p:cNvPr id="20" name="TextBox 19"/>
          <p:cNvSpPr txBox="1"/>
          <p:nvPr/>
        </p:nvSpPr>
        <p:spPr>
          <a:xfrm>
            <a:off x="566928" y="4681728"/>
            <a:ext cx="5300319" cy="640080"/>
          </a:xfrm>
          <a:prstGeom prst="rect">
            <a:avLst/>
          </a:prstGeom>
          <a:noFill/>
        </p:spPr>
        <p:txBody>
          <a:bodyPr wrap="square" lIns="0" rIns="0" tIns="0" bIns="0">
            <a:spAutoFit/>
          </a:bodyPr>
          <a:lstStyle/>
          <a:p>
            <a:pPr algn="l">
              <a:lnSpc>
                <a:spcPct val="130000"/>
              </a:lnSpc>
              <a:spcAft>
                <a:spcPts val="0"/>
              </a:spcAft>
            </a:pPr>
            <a:r>
              <a:rPr sz="1050" b="0">
                <a:solidFill>
                  <a:srgbClr val="6A6A6A"/>
                </a:solidFill>
                <a:latin typeface="DejaVu Sans"/>
              </a:rPr>
              <a:t>Venue quartiles are computed inside this cohort because citation cultures differ between subfields.</a:t>
            </a:r>
          </a:p>
        </p:txBody>
      </p:sp>
      <p:sp>
        <p:nvSpPr>
          <p:cNvPr id="21" name="Rectangle 20"/>
          <p:cNvSpPr/>
          <p:nvPr/>
        </p:nvSpPr>
        <p:spPr>
          <a:xfrm>
            <a:off x="6324447" y="4206240"/>
            <a:ext cx="384048" cy="23774"/>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4447" y="4352544"/>
            <a:ext cx="5300319" cy="274320"/>
          </a:xfrm>
          <a:prstGeom prst="rect">
            <a:avLst/>
          </a:prstGeom>
          <a:noFill/>
        </p:spPr>
        <p:txBody>
          <a:bodyPr wrap="square" lIns="0" rIns="0" tIns="0" bIns="0">
            <a:spAutoFit/>
          </a:bodyPr>
          <a:lstStyle/>
          <a:p>
            <a:pPr algn="l">
              <a:lnSpc>
                <a:spcPct val="125000"/>
              </a:lnSpc>
              <a:spcAft>
                <a:spcPts val="0"/>
              </a:spcAft>
            </a:pPr>
            <a:r>
              <a:rPr sz="1250" b="1">
                <a:solidFill>
                  <a:srgbClr val="1A1A1A"/>
                </a:solidFill>
                <a:latin typeface="DejaVu Sans"/>
              </a:rPr>
              <a:t>This is a description, not an instruction.</a:t>
            </a:r>
          </a:p>
        </p:txBody>
      </p:sp>
      <p:sp>
        <p:nvSpPr>
          <p:cNvPr id="23" name="TextBox 22"/>
          <p:cNvSpPr txBox="1"/>
          <p:nvPr/>
        </p:nvSpPr>
        <p:spPr>
          <a:xfrm>
            <a:off x="6324447" y="4681728"/>
            <a:ext cx="5300319" cy="640080"/>
          </a:xfrm>
          <a:prstGeom prst="rect">
            <a:avLst/>
          </a:prstGeom>
          <a:noFill/>
        </p:spPr>
        <p:txBody>
          <a:bodyPr wrap="square" lIns="0" rIns="0" tIns="0" bIns="0">
            <a:spAutoFit/>
          </a:bodyPr>
          <a:lstStyle/>
          <a:p>
            <a:pPr algn="l">
              <a:lnSpc>
                <a:spcPct val="130000"/>
              </a:lnSpc>
              <a:spcAft>
                <a:spcPts val="0"/>
              </a:spcAft>
            </a:pPr>
            <a:r>
              <a:rPr sz="1050" b="0">
                <a:solidFill>
                  <a:srgbClr val="6A6A6A"/>
                </a:solidFill>
                <a:latin typeface="DejaVu Sans"/>
              </a:rPr>
              <a:t>A department that reads the median as something everyone must reach has misread it.</a:t>
            </a:r>
          </a:p>
        </p:txBody>
      </p:sp>
      <p:sp>
        <p:nvSpPr>
          <p:cNvPr id="24" name="Rounded Rectangle 23"/>
          <p:cNvSpPr/>
          <p:nvPr/>
        </p:nvSpPr>
        <p:spPr>
          <a:xfrm>
            <a:off x="566928" y="5522976"/>
            <a:ext cx="11057839" cy="566928"/>
          </a:xfrm>
          <a:prstGeom prst="roundRect">
            <a:avLst>
              <a:gd name="adj" fmla="val 6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5705856"/>
            <a:ext cx="10545775" cy="274320"/>
          </a:xfrm>
          <a:prstGeom prst="rect">
            <a:avLst/>
          </a:prstGeom>
          <a:noFill/>
        </p:spPr>
        <p:txBody>
          <a:bodyPr wrap="square" lIns="0" rIns="0" tIns="0" bIns="0">
            <a:spAutoFit/>
          </a:bodyPr>
          <a:lstStyle/>
          <a:p>
            <a:pPr algn="l">
              <a:lnSpc>
                <a:spcPct val="125000"/>
              </a:lnSpc>
              <a:spcAft>
                <a:spcPts val="0"/>
              </a:spcAft>
            </a:pPr>
            <a:r>
              <a:rPr sz="1100" b="0">
                <a:solidFill>
                  <a:srgbClr val="1A1A1A"/>
                </a:solidFill>
                <a:latin typeface="DejaVu Sans"/>
              </a:rPr>
              <a:t>The whole method is in docs/methods.md, and every number here is in results/ as CSV. Read the funnel before the quartiles.</a:t>
            </a:r>
          </a:p>
        </p:txBody>
      </p:sp>
      <p:sp>
        <p:nvSpPr>
          <p:cNvPr id="26" name="Rectangle 25"/>
          <p:cNvSpPr/>
          <p:nvPr/>
        </p:nvSpPr>
        <p:spPr>
          <a:xfrm>
            <a:off x="566928" y="6199632"/>
            <a:ext cx="11057839" cy="10972"/>
          </a:xfrm>
          <a:prstGeom prst="rect">
            <a:avLst/>
          </a:prstGeom>
          <a:solidFill>
            <a:srgbClr val="E2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6272784"/>
            <a:ext cx="10424160" cy="274320"/>
          </a:xfrm>
          <a:prstGeom prst="rect">
            <a:avLst/>
          </a:prstGeom>
          <a:noFill/>
        </p:spPr>
        <p:txBody>
          <a:bodyPr wrap="square" lIns="0" rIns="0" tIns="0" bIns="0">
            <a:spAutoFit/>
          </a:bodyPr>
          <a:lstStyle/>
          <a:p>
            <a:pPr algn="l">
              <a:lnSpc>
                <a:spcPct val="125000"/>
              </a:lnSpc>
              <a:spcAft>
                <a:spcPts val="0"/>
              </a:spcAft>
            </a:pPr>
            <a:r>
              <a:rPr sz="850" b="0">
                <a:solidFill>
                  <a:srgbClr val="6A6A6A"/>
                </a:solidFill>
                <a:latin typeface="DejaVu Sans"/>
              </a:rPr>
              <a:t>Taylor D. Sparks  |  materials chemistry  |  cohort of 1,091 at career year 6  |  aggregates only, and a description rather than a standard</a:t>
            </a:r>
          </a:p>
        </p:txBody>
      </p:sp>
      <p:sp>
        <p:nvSpPr>
          <p:cNvPr id="28" name="TextBox 27"/>
          <p:cNvSpPr txBox="1"/>
          <p:nvPr/>
        </p:nvSpPr>
        <p:spPr>
          <a:xfrm>
            <a:off x="11167567" y="6272784"/>
            <a:ext cx="457200" cy="274320"/>
          </a:xfrm>
          <a:prstGeom prst="rect">
            <a:avLst/>
          </a:prstGeom>
          <a:noFill/>
        </p:spPr>
        <p:txBody>
          <a:bodyPr wrap="square" lIns="0" rIns="0" tIns="0" bIns="0">
            <a:spAutoFit/>
          </a:bodyPr>
          <a:lstStyle/>
          <a:p>
            <a:pPr algn="r">
              <a:lnSpc>
                <a:spcPct val="125000"/>
              </a:lnSpc>
              <a:spcAft>
                <a:spcPts val="0"/>
              </a:spcAft>
            </a:pPr>
            <a:r>
              <a:rPr sz="850" b="0">
                <a:solidFill>
                  <a:srgbClr val="6A6A6A"/>
                </a:solidFill>
                <a:latin typeface="DejaVu Sans"/>
              </a:rPr>
              <a:t>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