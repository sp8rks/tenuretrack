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is a quartile across cohort members. The middle half of the cohort sat between p25 and p75.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and cohort are compared at the same career year. Positions are locations in a distribution, not judgements about a career.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920240"/>
            <a:ext cx="11094415" cy="914400"/>
          </a:xfrm>
          <a:prstGeom prst="rect">
            <a:avLst/>
          </a:prstGeom>
          <a:noFill/>
        </p:spPr>
        <p:txBody>
          <a:bodyPr wrap="square">
            <a:spAutoFit/>
          </a:bodyPr>
          <a:lstStyle/>
          <a:p>
            <a:r>
              <a:rPr sz="3000" b="1">
                <a:solidFill>
                  <a:srgbClr val="1A1A1A"/>
                </a:solidFill>
                <a:latin typeface="DejaVu Sans"/>
              </a:rPr>
              <a:t>Taylor D. Sparks</a:t>
            </a:r>
          </a:p>
        </p:txBody>
      </p:sp>
      <p:sp>
        <p:nvSpPr>
          <p:cNvPr id="3" name="TextBox 2"/>
          <p:cNvSpPr txBox="1"/>
          <p:nvPr/>
        </p:nvSpPr>
        <p:spPr>
          <a:xfrm>
            <a:off x="548640" y="2834640"/>
            <a:ext cx="11094415" cy="1463040"/>
          </a:xfrm>
          <a:prstGeom prst="rect">
            <a:avLst/>
          </a:prstGeom>
          <a:noFill/>
        </p:spPr>
        <p:txBody>
          <a:bodyPr wrap="square">
            <a:spAutoFit/>
          </a:bodyPr>
          <a:lstStyle/>
          <a:p>
            <a:r>
              <a:rPr sz="1300" b="0">
                <a:solidFill>
                  <a:srgbClr val="1A1A1A"/>
                </a:solidFill>
                <a:latin typeface="DejaVu Sans"/>
              </a:rPr>
              <a:t>University of Utah</a:t>
            </a:r>
          </a:p>
          <a:p>
            <a:r>
              <a:rPr sz="1300" b="0">
                <a:solidFill>
                  <a:srgbClr val="1A1A1A"/>
                </a:solidFill>
                <a:latin typeface="DejaVu Sans"/>
              </a:rPr>
              <a:t>materials chemistry, career year 11</a:t>
            </a:r>
          </a:p>
          <a:p>
            <a:r>
              <a:rPr sz="1300" b="0">
                <a:solidFill>
                  <a:srgbClr val="1A1A1A"/>
                </a:solidFill>
                <a:latin typeface="DejaVu Sans"/>
              </a:rPr>
              <a:t>Compared against 1091 people at career year 6</a:t>
            </a:r>
          </a:p>
        </p:txBody>
      </p:sp>
      <p:sp>
        <p:nvSpPr>
          <p:cNvPr id="4" name="TextBox 3"/>
          <p:cNvSpPr txBox="1"/>
          <p:nvPr/>
        </p:nvSpPr>
        <p:spPr>
          <a:xfrm>
            <a:off x="548640" y="5669280"/>
            <a:ext cx="11094415" cy="822960"/>
          </a:xfrm>
          <a:prstGeom prst="rect">
            <a:avLst/>
          </a:prstGeom>
          <a:noFill/>
        </p:spPr>
        <p:txBody>
          <a:bodyPr wrap="square">
            <a:spAutoFit/>
          </a:bodyPr>
          <a:lstStyle/>
          <a:p>
            <a:r>
              <a:rPr sz="1000" b="0">
                <a:solidFill>
                  <a:srgbClr val="6A6A6A"/>
                </a:solidFill>
                <a:latin typeface="DejaVu Sans"/>
              </a:rPr>
              <a:t>Generated 2026-08-28 from OpenAlex (Priem, Piwowar and Orr, 2022), CC0. These numbers describe what a group of people did. They are not a standard.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How the cohort was built</a:t>
            </a:r>
          </a:p>
        </p:txBody>
      </p:sp>
      <p:pic>
        <p:nvPicPr>
          <p:cNvPr id="3" name="Picture 2" descr="funnel.png"/>
          <p:cNvPicPr>
            <a:picLocks noChangeAspect="1"/>
          </p:cNvPicPr>
          <p:nvPr/>
        </p:nvPicPr>
        <p:blipFill>
          <a:blip r:embed="rId2"/>
          <a:stretch>
            <a:fillRect/>
          </a:stretch>
        </p:blipFill>
        <p:spPr>
          <a:xfrm>
            <a:off x="548640" y="1188720"/>
            <a:ext cx="6766560" cy="3007360"/>
          </a:xfrm>
          <a:prstGeom prst="rect">
            <a:avLst/>
          </a:prstGeom>
        </p:spPr>
      </p:pic>
      <p:sp>
        <p:nvSpPr>
          <p:cNvPr id="4" name="TextBox 3"/>
          <p:cNvSpPr txBox="1"/>
          <p:nvPr/>
        </p:nvSpPr>
        <p:spPr>
          <a:xfrm>
            <a:off x="7498079" y="1280160"/>
            <a:ext cx="4206240" cy="2743200"/>
          </a:xfrm>
          <a:prstGeom prst="rect">
            <a:avLst/>
          </a:prstGeom>
          <a:noFill/>
        </p:spPr>
        <p:txBody>
          <a:bodyPr wrap="square">
            <a:spAutoFit/>
          </a:bodyPr>
          <a:lstStyle/>
          <a:p>
            <a:r>
              <a:rPr sz="1000" b="0">
                <a:solidFill>
                  <a:srgbClr val="1A1A1A"/>
                </a:solidFill>
                <a:latin typeface="DejaVu Sans"/>
              </a:rPr>
              <a:t>Topics defining the subfield</a:t>
            </a:r>
          </a:p>
          <a:p>
            <a:r>
              <a:rPr sz="1000" b="0">
                <a:solidFill>
                  <a:srgbClr val="1A1A1A"/>
                </a:solidFill>
                <a:latin typeface="DejaVu Sans"/>
              </a:rPr>
              <a:t>T11948  Machine Learning in Materials Science</a:t>
            </a:r>
          </a:p>
          <a:p>
            <a:r>
              <a:rPr sz="1000" b="0">
                <a:solidFill>
                  <a:srgbClr val="1A1A1A"/>
                </a:solidFill>
                <a:latin typeface="DejaVu Sans"/>
              </a:rPr>
              <a:t>T10440  Advanced Thermoelectric Materials and Devices</a:t>
            </a:r>
          </a:p>
          <a:p>
            <a:r>
              <a:rPr sz="1000" b="0">
                <a:solidFill>
                  <a:srgbClr val="1A1A1A"/>
                </a:solidFill>
                <a:latin typeface="DejaVu Sans"/>
              </a:rPr>
              <a:t>T10657  Topological Materials and Phenomena</a:t>
            </a:r>
          </a:p>
          <a:p>
            <a:r>
              <a:rPr sz="1000" b="0">
                <a:solidFill>
                  <a:srgbClr val="1A1A1A"/>
                </a:solidFill>
                <a:latin typeface="DejaVu Sans"/>
              </a:rPr>
              <a:t>T10018  Advancements in Battery Materials</a:t>
            </a:r>
          </a:p>
          <a:p>
            <a:r>
              <a:rPr sz="1000" b="0">
                <a:solidFill>
                  <a:srgbClr val="1A1A1A"/>
                </a:solidFill>
                <a:latin typeface="DejaVu Sans"/>
              </a:rPr>
              <a:t>T10311  Advancements in Solid Oxide Fuel Cells</a:t>
            </a:r>
          </a:p>
          <a:p>
            <a:r>
              <a:rPr sz="1000" b="0">
                <a:solidFill>
                  <a:srgbClr val="1A1A1A"/>
                </a:solidFill>
                <a:latin typeface="DejaVu Sans"/>
              </a:rPr>
              <a:t>T10059  Bone Tissue Engineering Materials</a:t>
            </a:r>
          </a:p>
        </p:txBody>
      </p:sp>
      <p:sp>
        <p:nvSpPr>
          <p:cNvPr id="5" name="TextBox 4"/>
          <p:cNvSpPr txBox="1"/>
          <p:nvPr/>
        </p:nvSpPr>
        <p:spPr>
          <a:xfrm>
            <a:off x="548640" y="5486400"/>
            <a:ext cx="11094415" cy="914400"/>
          </a:xfrm>
          <a:prstGeom prst="rect">
            <a:avLst/>
          </a:prstGeom>
          <a:noFill/>
        </p:spPr>
        <p:txBody>
          <a:bodyPr wrap="square">
            <a:spAutoFit/>
          </a:bodyPr>
          <a:lstStyle/>
          <a:p>
            <a:r>
              <a:rPr sz="1000" b="0">
                <a:solidFill>
                  <a:srgbClr val="6A6A6A"/>
                </a:solidFill>
                <a:latin typeface="DejaVu Sans"/>
              </a:rPr>
              <a:t>The cohort is people whose work sits in these topics and whose first independent faculty appointment could be dated confidently from their bylines. It is not everyone in the subfield, and the people it drops are not a random sample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What the subfield published through year 6</a:t>
            </a:r>
          </a:p>
        </p:txBody>
      </p:sp>
      <p:graphicFrame>
        <p:nvGraphicFramePr>
          <p:cNvPr id="3" name="Table 2"/>
          <p:cNvGraphicFramePr>
            <a:graphicFrameLocks noGrp="1"/>
          </p:cNvGraphicFramePr>
          <p:nvPr/>
        </p:nvGraphicFramePr>
        <p:xfrm>
          <a:off x="548640" y="1188720"/>
          <a:ext cx="7315200" cy="2926080"/>
        </p:xfrm>
        <a:graphic>
          <a:graphicData uri="http://schemas.openxmlformats.org/drawingml/2006/table">
            <a:tbl>
              <a:tblPr firstRow="1" bandRow="1">
                <a:tableStyleId>{5C22544A-7EE6-4342-B048-85BDC9FD1C3A}</a:tableStyleId>
              </a:tblPr>
              <a:tblGrid>
                <a:gridCol w="1828800"/>
                <a:gridCol w="1828800"/>
                <a:gridCol w="1828800"/>
                <a:gridCol w="1828800"/>
              </a:tblGrid>
              <a:tr h="365760">
                <a:tc>
                  <a:txBody>
                    <a:bodyPr/>
                    <a:lstStyle/>
                    <a:p>
                      <a:r>
                        <a:rPr sz="1000" b="1">
                          <a:solidFill>
                            <a:srgbClr val="1A1A1A"/>
                          </a:solidFill>
                          <a:latin typeface="DejaVu Sans"/>
                        </a:rPr>
                        <a:t>Metric</a:t>
                      </a:r>
                    </a:p>
                  </a:txBody>
                  <a:tcPr/>
                </a:tc>
                <a:tc>
                  <a:txBody>
                    <a:bodyPr/>
                    <a:lstStyle/>
                    <a:p>
                      <a:r>
                        <a:rPr sz="1000" b="1">
                          <a:solidFill>
                            <a:srgbClr val="1A1A1A"/>
                          </a:solidFill>
                          <a:latin typeface="DejaVu Sans"/>
                        </a:rPr>
                        <a:t>p25</a:t>
                      </a:r>
                    </a:p>
                  </a:txBody>
                  <a:tcPr/>
                </a:tc>
                <a:tc>
                  <a:txBody>
                    <a:bodyPr/>
                    <a:lstStyle/>
                    <a:p>
                      <a:r>
                        <a:rPr sz="1000" b="1">
                          <a:solidFill>
                            <a:srgbClr val="1A1A1A"/>
                          </a:solidFill>
                          <a:latin typeface="DejaVu Sans"/>
                        </a:rPr>
                        <a:t>Median</a:t>
                      </a:r>
                    </a:p>
                  </a:txBody>
                  <a:tcPr/>
                </a:tc>
                <a:tc>
                  <a:txBody>
                    <a:bodyPr/>
                    <a:lstStyle/>
                    <a:p>
                      <a:r>
                        <a:rPr sz="1000" b="1">
                          <a:solidFill>
                            <a:srgbClr val="1A1A1A"/>
                          </a:solidFill>
                          <a:latin typeface="DejaVu Sans"/>
                        </a:rPr>
                        <a:t>p75</a:t>
                      </a:r>
                    </a:p>
                  </a:txBody>
                  <a:tcPr/>
                </a:tc>
              </a:tr>
              <a:tr h="365760">
                <a:tc>
                  <a:txBody>
                    <a:bodyPr/>
                    <a:lstStyle/>
                    <a:p>
                      <a:r>
                        <a:rPr sz="1000" b="0">
                          <a:solidFill>
                            <a:srgbClr val="1A1A1A"/>
                          </a:solidFill>
                          <a:latin typeface="DejaVu Sans"/>
                        </a:rPr>
                        <a:t>pubs</a:t>
                      </a:r>
                    </a:p>
                  </a:txBody>
                  <a:tcPr/>
                </a:tc>
                <a:tc>
                  <a:txBody>
                    <a:bodyPr/>
                    <a:lstStyle/>
                    <a:p>
                      <a:r>
                        <a:rPr sz="1000" b="0">
                          <a:solidFill>
                            <a:srgbClr val="1A1A1A"/>
                          </a:solidFill>
                          <a:latin typeface="DejaVu Sans"/>
                        </a:rPr>
                        <a:t>14</a:t>
                      </a:r>
                    </a:p>
                  </a:txBody>
                  <a:tcPr/>
                </a:tc>
                <a:tc>
                  <a:txBody>
                    <a:bodyPr/>
                    <a:lstStyle/>
                    <a:p>
                      <a:r>
                        <a:rPr sz="1000" b="0">
                          <a:solidFill>
                            <a:srgbClr val="1A1A1A"/>
                          </a:solidFill>
                          <a:latin typeface="DejaVu Sans"/>
                        </a:rPr>
                        <a:t>23</a:t>
                      </a:r>
                    </a:p>
                  </a:txBody>
                  <a:tcPr/>
                </a:tc>
                <a:tc>
                  <a:txBody>
                    <a:bodyPr/>
                    <a:lstStyle/>
                    <a:p>
                      <a:r>
                        <a:rPr sz="1000" b="0">
                          <a:solidFill>
                            <a:srgbClr val="1A1A1A"/>
                          </a:solidFill>
                          <a:latin typeface="DejaVu Sans"/>
                        </a:rPr>
                        <a:t>38</a:t>
                      </a:r>
                    </a:p>
                  </a:txBody>
                  <a:tcPr/>
                </a:tc>
              </a:tr>
              <a:tr h="365760">
                <a:tc>
                  <a:txBody>
                    <a:bodyPr/>
                    <a:lstStyle/>
                    <a:p>
                      <a:r>
                        <a:rPr sz="1000" b="0">
                          <a:solidFill>
                            <a:srgbClr val="1A1A1A"/>
                          </a:solidFill>
                          <a:latin typeface="DejaVu Sans"/>
                        </a:rPr>
                        <a:t>led</a:t>
                      </a:r>
                    </a:p>
                  </a:txBody>
                  <a:tcPr/>
                </a:tc>
                <a:tc>
                  <a:txBody>
                    <a:bodyPr/>
                    <a:lstStyle/>
                    <a:p>
                      <a:r>
                        <a:rPr sz="1000" b="0">
                          <a:solidFill>
                            <a:srgbClr val="1A1A1A"/>
                          </a:solidFill>
                          <a:latin typeface="DejaVu Sans"/>
                        </a:rPr>
                        <a:t>3</a:t>
                      </a:r>
                    </a:p>
                  </a:txBody>
                  <a:tcPr/>
                </a:tc>
                <a:tc>
                  <a:txBody>
                    <a:bodyPr/>
                    <a:lstStyle/>
                    <a:p>
                      <a:r>
                        <a:rPr sz="1000" b="0">
                          <a:solidFill>
                            <a:srgbClr val="1A1A1A"/>
                          </a:solidFill>
                          <a:latin typeface="DejaVu Sans"/>
                        </a:rPr>
                        <a:t>6</a:t>
                      </a:r>
                    </a:p>
                  </a:txBody>
                  <a:tcPr/>
                </a:tc>
                <a:tc>
                  <a:txBody>
                    <a:bodyPr/>
                    <a:lstStyle/>
                    <a:p>
                      <a:r>
                        <a:rPr sz="1000" b="0">
                          <a:solidFill>
                            <a:srgbClr val="1A1A1A"/>
                          </a:solidFill>
                          <a:latin typeface="DejaVu Sans"/>
                        </a:rPr>
                        <a:t>12</a:t>
                      </a:r>
                    </a:p>
                  </a:txBody>
                  <a:tcPr/>
                </a:tc>
              </a:tr>
              <a:tr h="365760">
                <a:tc>
                  <a:txBody>
                    <a:bodyPr/>
                    <a:lstStyle/>
                    <a:p>
                      <a:r>
                        <a:rPr sz="1000" b="0">
                          <a:solidFill>
                            <a:srgbClr val="1A1A1A"/>
                          </a:solidFill>
                          <a:latin typeface="DejaVu Sans"/>
                        </a:rPr>
                        <a:t>lead share</a:t>
                      </a:r>
                    </a:p>
                  </a:txBody>
                  <a:tcPr/>
                </a:tc>
                <a:tc>
                  <a:txBody>
                    <a:bodyPr/>
                    <a:lstStyle/>
                    <a:p>
                      <a:r>
                        <a:rPr sz="1000" b="0">
                          <a:solidFill>
                            <a:srgbClr val="1A1A1A"/>
                          </a:solidFill>
                          <a:latin typeface="DejaVu Sans"/>
                        </a:rPr>
                        <a:t>0.16</a:t>
                      </a:r>
                    </a:p>
                  </a:txBody>
                  <a:tcPr/>
                </a:tc>
                <a:tc>
                  <a:txBody>
                    <a:bodyPr/>
                    <a:lstStyle/>
                    <a:p>
                      <a:r>
                        <a:rPr sz="1000" b="0">
                          <a:solidFill>
                            <a:srgbClr val="1A1A1A"/>
                          </a:solidFill>
                          <a:latin typeface="DejaVu Sans"/>
                        </a:rPr>
                        <a:t>0.29</a:t>
                      </a:r>
                    </a:p>
                  </a:txBody>
                  <a:tcPr/>
                </a:tc>
                <a:tc>
                  <a:txBody>
                    <a:bodyPr/>
                    <a:lstStyle/>
                    <a:p>
                      <a:r>
                        <a:rPr sz="1000" b="0">
                          <a:solidFill>
                            <a:srgbClr val="1A1A1A"/>
                          </a:solidFill>
                          <a:latin typeface="DejaVu Sans"/>
                        </a:rPr>
                        <a:t>0.50</a:t>
                      </a:r>
                    </a:p>
                  </a:txBody>
                  <a:tcPr/>
                </a:tc>
              </a:tr>
              <a:tr h="365760">
                <a:tc>
                  <a:txBody>
                    <a:bodyPr/>
                    <a:lstStyle/>
                    <a:p>
                      <a:r>
                        <a:rPr sz="1000" b="0">
                          <a:solidFill>
                            <a:srgbClr val="1A1A1A"/>
                          </a:solidFill>
                          <a:latin typeface="DejaVu Sans"/>
                        </a:rPr>
                        <a:t>citations</a:t>
                      </a:r>
                    </a:p>
                  </a:txBody>
                  <a:tcPr/>
                </a:tc>
                <a:tc>
                  <a:txBody>
                    <a:bodyPr/>
                    <a:lstStyle/>
                    <a:p>
                      <a:r>
                        <a:rPr sz="1000" b="0">
                          <a:solidFill>
                            <a:srgbClr val="1A1A1A"/>
                          </a:solidFill>
                          <a:latin typeface="DejaVu Sans"/>
                        </a:rPr>
                        <a:t>410</a:t>
                      </a:r>
                    </a:p>
                  </a:txBody>
                  <a:tcPr/>
                </a:tc>
                <a:tc>
                  <a:txBody>
                    <a:bodyPr/>
                    <a:lstStyle/>
                    <a:p>
                      <a:r>
                        <a:rPr sz="1000" b="0">
                          <a:solidFill>
                            <a:srgbClr val="1A1A1A"/>
                          </a:solidFill>
                          <a:latin typeface="DejaVu Sans"/>
                        </a:rPr>
                        <a:t>942</a:t>
                      </a:r>
                    </a:p>
                  </a:txBody>
                  <a:tcPr/>
                </a:tc>
                <a:tc>
                  <a:txBody>
                    <a:bodyPr/>
                    <a:lstStyle/>
                    <a:p>
                      <a:r>
                        <a:rPr sz="1000" b="0">
                          <a:solidFill>
                            <a:srgbClr val="1A1A1A"/>
                          </a:solidFill>
                          <a:latin typeface="DejaVu Sans"/>
                        </a:rPr>
                        <a:t>2128</a:t>
                      </a:r>
                    </a:p>
                  </a:txBody>
                  <a:tcPr/>
                </a:tc>
              </a:tr>
              <a:tr h="365760">
                <a:tc>
                  <a:txBody>
                    <a:bodyPr/>
                    <a:lstStyle/>
                    <a:p>
                      <a:r>
                        <a:rPr sz="1000" b="0">
                          <a:solidFill>
                            <a:srgbClr val="1A1A1A"/>
                          </a:solidFill>
                          <a:latin typeface="DejaVu Sans"/>
                        </a:rPr>
                        <a:t>h index</a:t>
                      </a:r>
                    </a:p>
                  </a:txBody>
                  <a:tcPr/>
                </a:tc>
                <a:tc>
                  <a:txBody>
                    <a:bodyPr/>
                    <a:lstStyle/>
                    <a:p>
                      <a:r>
                        <a:rPr sz="1000" b="0">
                          <a:solidFill>
                            <a:srgbClr val="1A1A1A"/>
                          </a:solidFill>
                          <a:latin typeface="DejaVu Sans"/>
                        </a:rPr>
                        <a:t>9</a:t>
                      </a:r>
                    </a:p>
                  </a:txBody>
                  <a:tcPr/>
                </a:tc>
                <a:tc>
                  <a:txBody>
                    <a:bodyPr/>
                    <a:lstStyle/>
                    <a:p>
                      <a:r>
                        <a:rPr sz="1000" b="0">
                          <a:solidFill>
                            <a:srgbClr val="1A1A1A"/>
                          </a:solidFill>
                          <a:latin typeface="DejaVu Sans"/>
                        </a:rPr>
                        <a:t>14</a:t>
                      </a:r>
                    </a:p>
                  </a:txBody>
                  <a:tcPr/>
                </a:tc>
                <a:tc>
                  <a:txBody>
                    <a:bodyPr/>
                    <a:lstStyle/>
                    <a:p>
                      <a:r>
                        <a:rPr sz="1000" b="0">
                          <a:solidFill>
                            <a:srgbClr val="1A1A1A"/>
                          </a:solidFill>
                          <a:latin typeface="DejaVu Sans"/>
                        </a:rPr>
                        <a:t>21</a:t>
                      </a:r>
                    </a:p>
                  </a:txBody>
                  <a:tcPr/>
                </a:tc>
              </a:tr>
              <a:tr h="365760">
                <a:tc>
                  <a:txBody>
                    <a:bodyPr/>
                    <a:lstStyle/>
                    <a:p>
                      <a:r>
                        <a:rPr sz="1000" b="0">
                          <a:solidFill>
                            <a:srgbClr val="1A1A1A"/>
                          </a:solidFill>
                          <a:latin typeface="DejaVu Sans"/>
                        </a:rPr>
                        <a:t>venue impact median</a:t>
                      </a:r>
                    </a:p>
                  </a:txBody>
                  <a:tcPr/>
                </a:tc>
                <a:tc>
                  <a:txBody>
                    <a:bodyPr/>
                    <a:lstStyle/>
                    <a:p>
                      <a:r>
                        <a:rPr sz="1000" b="0">
                          <a:solidFill>
                            <a:srgbClr val="1A1A1A"/>
                          </a:solidFill>
                          <a:latin typeface="DejaVu Sans"/>
                        </a:rPr>
                        <a:t>3.26</a:t>
                      </a:r>
                    </a:p>
                  </a:txBody>
                  <a:tcPr/>
                </a:tc>
                <a:tc>
                  <a:txBody>
                    <a:bodyPr/>
                    <a:lstStyle/>
                    <a:p>
                      <a:r>
                        <a:rPr sz="1000" b="0">
                          <a:solidFill>
                            <a:srgbClr val="1A1A1A"/>
                          </a:solidFill>
                          <a:latin typeface="DejaVu Sans"/>
                        </a:rPr>
                        <a:t>4.17</a:t>
                      </a:r>
                    </a:p>
                  </a:txBody>
                  <a:tcPr/>
                </a:tc>
                <a:tc>
                  <a:txBody>
                    <a:bodyPr/>
                    <a:lstStyle/>
                    <a:p>
                      <a:r>
                        <a:rPr sz="1000" b="0">
                          <a:solidFill>
                            <a:srgbClr val="1A1A1A"/>
                          </a:solidFill>
                          <a:latin typeface="DejaVu Sans"/>
                        </a:rPr>
                        <a:t>5.87</a:t>
                      </a:r>
                    </a:p>
                  </a:txBody>
                  <a:tcPr/>
                </a:tc>
              </a:tr>
              <a:tr h="365760">
                <a:tc>
                  <a:txBody>
                    <a:bodyPr/>
                    <a:lstStyle/>
                    <a:p>
                      <a:r>
                        <a:rPr sz="1000" b="0">
                          <a:solidFill>
                            <a:srgbClr val="1A1A1A"/>
                          </a:solidFill>
                          <a:latin typeface="DejaVu Sans"/>
                        </a:rPr>
                        <a:t>top quartile share</a:t>
                      </a:r>
                    </a:p>
                  </a:txBody>
                  <a:tcPr/>
                </a:tc>
                <a:tc>
                  <a:txBody>
                    <a:bodyPr/>
                    <a:lstStyle/>
                    <a:p>
                      <a:r>
                        <a:rPr sz="1000" b="0">
                          <a:solidFill>
                            <a:srgbClr val="1A1A1A"/>
                          </a:solidFill>
                          <a:latin typeface="DejaVu Sans"/>
                        </a:rPr>
                        <a:t>0.09</a:t>
                      </a:r>
                    </a:p>
                  </a:txBody>
                  <a:tcPr/>
                </a:tc>
                <a:tc>
                  <a:txBody>
                    <a:bodyPr/>
                    <a:lstStyle/>
                    <a:p>
                      <a:r>
                        <a:rPr sz="1000" b="0">
                          <a:solidFill>
                            <a:srgbClr val="1A1A1A"/>
                          </a:solidFill>
                          <a:latin typeface="DejaVu Sans"/>
                        </a:rPr>
                        <a:t>0.21</a:t>
                      </a:r>
                    </a:p>
                  </a:txBody>
                  <a:tcPr/>
                </a:tc>
                <a:tc>
                  <a:txBody>
                    <a:bodyPr/>
                    <a:lstStyle/>
                    <a:p>
                      <a:r>
                        <a:rPr sz="1000" b="0">
                          <a:solidFill>
                            <a:srgbClr val="1A1A1A"/>
                          </a:solidFill>
                          <a:latin typeface="DejaVu Sans"/>
                        </a:rPr>
                        <a:t>0.36</a:t>
                      </a:r>
                    </a:p>
                  </a:txBody>
                  <a:tcPr/>
                </a:tc>
              </a:tr>
            </a:tbl>
          </a:graphicData>
        </a:graphic>
      </p:graphicFrame>
      <p:sp>
        <p:nvSpPr>
          <p:cNvPr id="4" name="TextBox 3"/>
          <p:cNvSpPr txBox="1"/>
          <p:nvPr/>
        </p:nvSpPr>
        <p:spPr>
          <a:xfrm>
            <a:off x="548640" y="5760720"/>
            <a:ext cx="11094415" cy="731520"/>
          </a:xfrm>
          <a:prstGeom prst="rect">
            <a:avLst/>
          </a:prstGeom>
          <a:noFill/>
        </p:spPr>
        <p:txBody>
          <a:bodyPr wrap="square">
            <a:spAutoFit/>
          </a:bodyPr>
          <a:lstStyle/>
          <a:p>
            <a:r>
              <a:rPr sz="1000" b="0">
                <a:solidFill>
                  <a:srgbClr val="6A6A6A"/>
                </a:solidFill>
                <a:latin typeface="DejaVu Sans"/>
              </a:rPr>
              <a:t>Quartiles across people, not averages. Citations are counted as they stand today, for papers that are eight to eighteen years 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Taylor D. Sparks and the cohort at year 6</a:t>
            </a:r>
          </a:p>
        </p:txBody>
      </p:sp>
      <p:pic>
        <p:nvPicPr>
          <p:cNvPr id="3" name="Picture 2" descr="subject.png"/>
          <p:cNvPicPr>
            <a:picLocks noChangeAspect="1"/>
          </p:cNvPicPr>
          <p:nvPr/>
        </p:nvPicPr>
        <p:blipFill>
          <a:blip r:embed="rId2"/>
          <a:stretch>
            <a:fillRect/>
          </a:stretch>
        </p:blipFill>
        <p:spPr>
          <a:xfrm>
            <a:off x="548640" y="1097280"/>
            <a:ext cx="7863840" cy="3931920"/>
          </a:xfrm>
          <a:prstGeom prst="rect">
            <a:avLst/>
          </a:prstGeom>
        </p:spPr>
      </p:pic>
      <p:sp>
        <p:nvSpPr>
          <p:cNvPr id="4" name="TextBox 3"/>
          <p:cNvSpPr txBox="1"/>
          <p:nvPr/>
        </p:nvSpPr>
        <p:spPr>
          <a:xfrm>
            <a:off x="8321040" y="1371600"/>
            <a:ext cx="3383280" cy="3657600"/>
          </a:xfrm>
          <a:prstGeom prst="rect">
            <a:avLst/>
          </a:prstGeom>
          <a:noFill/>
        </p:spPr>
        <p:txBody>
          <a:bodyPr wrap="square">
            <a:spAutoFit/>
          </a:bodyPr>
          <a:lstStyle/>
          <a:p>
            <a:r>
              <a:rPr sz="1000" b="0">
                <a:solidFill>
                  <a:srgbClr val="1A1A1A"/>
                </a:solidFill>
                <a:latin typeface="DejaVu Sans"/>
              </a:rPr>
              <a:t>Journal articles: above p75</a:t>
            </a:r>
          </a:p>
          <a:p>
            <a:r>
              <a:rPr sz="1000" b="0">
                <a:solidFill>
                  <a:srgbClr val="1A1A1A"/>
                </a:solidFill>
                <a:latin typeface="DejaVu Sans"/>
              </a:rPr>
              <a:t>Led articles (last or corresponding): above p75</a:t>
            </a:r>
          </a:p>
          <a:p>
            <a:r>
              <a:rPr sz="1000" b="0">
                <a:solidFill>
                  <a:srgbClr val="1A1A1A"/>
                </a:solidFill>
                <a:latin typeface="DejaVu Sans"/>
              </a:rPr>
              <a:t>Share of articles led: above p75</a:t>
            </a:r>
          </a:p>
          <a:p>
            <a:r>
              <a:rPr sz="1000" b="0">
                <a:solidFill>
                  <a:srgbClr val="1A1A1A"/>
                </a:solidFill>
                <a:latin typeface="DejaVu Sans"/>
              </a:rPr>
              <a:t>Citations to those articles: not compared</a:t>
            </a:r>
          </a:p>
          <a:p>
            <a:r>
              <a:rPr sz="1000" b="0">
                <a:solidFill>
                  <a:srgbClr val="1A1A1A"/>
                </a:solidFill>
                <a:latin typeface="DejaVu Sans"/>
              </a:rPr>
              <a:t>h-index over those articles: above p75</a:t>
            </a:r>
          </a:p>
          <a:p>
            <a:r>
              <a:rPr sz="1000" b="0">
                <a:solidFill>
                  <a:srgbClr val="1A1A1A"/>
                </a:solidFill>
                <a:latin typeface="DejaVu Sans"/>
              </a:rPr>
              <a:t>Median venue impact: between the median and p75</a:t>
            </a:r>
          </a:p>
          <a:p>
            <a:r>
              <a:rPr sz="1000" b="0">
                <a:solidFill>
                  <a:srgbClr val="1A1A1A"/>
                </a:solidFill>
                <a:latin typeface="DejaVu Sans"/>
              </a:rPr>
              <a:t>Share in top-quartile venues: between the median and p75</a:t>
            </a:r>
          </a:p>
        </p:txBody>
      </p:sp>
      <p:sp>
        <p:nvSpPr>
          <p:cNvPr id="5" name="TextBox 4"/>
          <p:cNvSpPr txBox="1"/>
          <p:nvPr/>
        </p:nvSpPr>
        <p:spPr>
          <a:xfrm>
            <a:off x="548640" y="5943600"/>
            <a:ext cx="11094415" cy="548640"/>
          </a:xfrm>
          <a:prstGeom prst="rect">
            <a:avLst/>
          </a:prstGeom>
          <a:noFill/>
        </p:spPr>
        <p:txBody>
          <a:bodyPr wrap="square">
            <a:spAutoFit/>
          </a:bodyPr>
          <a:lstStyle/>
          <a:p>
            <a:r>
              <a:rPr sz="1000" b="0">
                <a:solidFill>
                  <a:srgbClr val="6A6A6A"/>
                </a:solidFill>
                <a:latin typeface="DejaVu Sans"/>
              </a:rPr>
              <a:t>Citations are shown and not placed: the cohort's papers have had far longer to collect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Where this subfield publishes</a:t>
            </a:r>
          </a:p>
        </p:txBody>
      </p:sp>
      <p:pic>
        <p:nvPicPr>
          <p:cNvPr id="3" name="Picture 2" descr="venues.png"/>
          <p:cNvPicPr>
            <a:picLocks noChangeAspect="1"/>
          </p:cNvPicPr>
          <p:nvPr/>
        </p:nvPicPr>
        <p:blipFill>
          <a:blip r:embed="rId2"/>
          <a:stretch>
            <a:fillRect/>
          </a:stretch>
        </p:blipFill>
        <p:spPr>
          <a:xfrm>
            <a:off x="548640" y="1188720"/>
            <a:ext cx="6583680" cy="5064369"/>
          </a:xfrm>
          <a:prstGeom prst="rect">
            <a:avLst/>
          </a:prstGeom>
        </p:spPr>
      </p:pic>
      <p:pic>
        <p:nvPicPr>
          <p:cNvPr id="4" name="Picture 3" descr="roles.png"/>
          <p:cNvPicPr>
            <a:picLocks noChangeAspect="1"/>
          </p:cNvPicPr>
          <p:nvPr/>
        </p:nvPicPr>
        <p:blipFill>
          <a:blip r:embed="rId3"/>
          <a:stretch>
            <a:fillRect/>
          </a:stretch>
        </p:blipFill>
        <p:spPr>
          <a:xfrm>
            <a:off x="7498079" y="1463040"/>
            <a:ext cx="4023360" cy="2861056"/>
          </a:xfrm>
          <a:prstGeom prst="rect">
            <a:avLst/>
          </a:prstGeom>
        </p:spPr>
      </p:pic>
      <p:sp>
        <p:nvSpPr>
          <p:cNvPr id="5" name="TextBox 4"/>
          <p:cNvSpPr txBox="1"/>
          <p:nvPr/>
        </p:nvSpPr>
        <p:spPr>
          <a:xfrm>
            <a:off x="7498079" y="1097280"/>
            <a:ext cx="4023360" cy="365760"/>
          </a:xfrm>
          <a:prstGeom prst="rect">
            <a:avLst/>
          </a:prstGeom>
          <a:noFill/>
        </p:spPr>
        <p:txBody>
          <a:bodyPr wrap="square">
            <a:spAutoFit/>
          </a:bodyPr>
          <a:lstStyle/>
          <a:p>
            <a:r>
              <a:rPr sz="1000" b="0">
                <a:solidFill>
                  <a:srgbClr val="6A6A6A"/>
                </a:solidFill>
                <a:latin typeface="DejaVu Sans"/>
              </a:rPr>
              <a:t>Top-quartile venue rate by authorship role</a:t>
            </a:r>
          </a:p>
        </p:txBody>
      </p:sp>
      <p:sp>
        <p:nvSpPr>
          <p:cNvPr id="6" name="TextBox 5"/>
          <p:cNvSpPr txBox="1"/>
          <p:nvPr/>
        </p:nvSpPr>
        <p:spPr>
          <a:xfrm>
            <a:off x="548640" y="5852160"/>
            <a:ext cx="11094415" cy="731520"/>
          </a:xfrm>
          <a:prstGeom prst="rect">
            <a:avLst/>
          </a:prstGeom>
          <a:noFill/>
        </p:spPr>
        <p:txBody>
          <a:bodyPr wrap="square">
            <a:spAutoFit/>
          </a:bodyPr>
          <a:lstStyle/>
          <a:p>
            <a:r>
              <a:rPr sz="1000" b="0">
                <a:solidFill>
                  <a:srgbClr val="6A6A6A"/>
                </a:solidFill>
                <a:latin typeface="DejaVu Sans"/>
              </a:rPr>
              <a:t>Top quartile means top quartile of venue impact within this cohort, not a global journal list. A venue near the top with an impact near zero is usually a conference abstract series that OpenAlex types as a journal.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What these numbers cannot see</a:t>
            </a:r>
          </a:p>
        </p:txBody>
      </p:sp>
      <p:sp>
        <p:nvSpPr>
          <p:cNvPr id="3" name="TextBox 2"/>
          <p:cNvSpPr txBox="1"/>
          <p:nvPr/>
        </p:nvSpPr>
        <p:spPr>
          <a:xfrm>
            <a:off x="548640" y="1280160"/>
            <a:ext cx="11094415" cy="4572000"/>
          </a:xfrm>
          <a:prstGeom prst="rect">
            <a:avLst/>
          </a:prstGeom>
          <a:noFill/>
        </p:spPr>
        <p:txBody>
          <a:bodyPr wrap="square">
            <a:spAutoFit/>
          </a:bodyPr>
          <a:lstStyle/>
          <a:p>
            <a:r>
              <a:rPr sz="1300" b="0">
                <a:solidFill>
                  <a:srgbClr val="1A1A1A"/>
                </a:solidFill>
                <a:latin typeface="DejaVu Sans"/>
              </a:rPr>
              <a:t>- Teaching, mentoring, service, funding, software, datasets and public scholarship are absent from OpenAlex and are a large part of the job.</a:t>
            </a:r>
          </a:p>
          <a:p>
            <a:r>
              <a:rPr sz="1300" b="0">
                <a:solidFill>
                  <a:srgbClr val="1A1A1A"/>
                </a:solidFill>
                <a:latin typeface="DejaVu Sans"/>
              </a:rPr>
              <a:t/>
            </a:r>
          </a:p>
          <a:p>
            <a:r>
              <a:rPr sz="1300" b="0">
                <a:solidFill>
                  <a:srgbClr val="1A1A1A"/>
                </a:solidFill>
                <a:latin typeface="DejaVu Sans"/>
              </a:rPr>
              <a:t>- Career start is estimated from bylines for everyone in the cohort. Lecturer-to-tenure-line conversions, clinical appointments, parental leave and delayed starts are invisible to it.</a:t>
            </a:r>
          </a:p>
          <a:p>
            <a:r>
              <a:rPr sz="1300" b="0">
                <a:solidFill>
                  <a:srgbClr val="1A1A1A"/>
                </a:solidFill>
                <a:latin typeface="DejaVu Sans"/>
              </a:rPr>
              <a:t/>
            </a:r>
          </a:p>
          <a:p>
            <a:r>
              <a:rPr sz="1300" b="0">
                <a:solidFill>
                  <a:srgbClr val="1A1A1A"/>
                </a:solidFill>
                <a:latin typeface="DejaVu Sans"/>
              </a:rPr>
              <a:t>- People who never changed institution are excluded, because their trainee years cannot be told apart from their independent ones.</a:t>
            </a:r>
          </a:p>
          <a:p>
            <a:r>
              <a:rPr sz="1300" b="0">
                <a:solidFill>
                  <a:srgbClr val="1A1A1A"/>
                </a:solidFill>
                <a:latin typeface="DejaVu Sans"/>
              </a:rPr>
              <a:t/>
            </a:r>
          </a:p>
          <a:p>
            <a:r>
              <a:rPr sz="1300" b="0">
                <a:solidFill>
                  <a:srgbClr val="1A1A1A"/>
                </a:solidFill>
                <a:latin typeface="DejaVu Sans"/>
              </a:rPr>
              <a:t>- Corresponding-author flags are missing for many journals and years, so last position carries most of the weight in deciding who led a paper.</a:t>
            </a:r>
          </a:p>
          <a:p>
            <a:r>
              <a:rPr sz="1300" b="0">
                <a:solidFill>
                  <a:srgbClr val="1A1A1A"/>
                </a:solidFill>
                <a:latin typeface="DejaVu Sans"/>
              </a:rPr>
              <a:t/>
            </a:r>
          </a:p>
          <a:p>
            <a:r>
              <a:rPr sz="1300" b="0">
                <a:solidFill>
                  <a:srgbClr val="1A1A1A"/>
                </a:solidFill>
                <a:latin typeface="DejaVu Sans"/>
              </a:rPr>
              <a:t>- Venue impact is journal-level. It says nothing about an individual paper.</a:t>
            </a:r>
          </a:p>
          <a:p>
            <a:r>
              <a:rPr sz="1300" b="0">
                <a:solidFill>
                  <a:srgbClr val="1A1A1A"/>
                </a:solidFill>
                <a:latin typeface="DejaVu Sans"/>
              </a:rPr>
              <a:t/>
            </a:r>
          </a:p>
          <a:p>
            <a:r>
              <a:rPr sz="1300" b="0">
                <a:solidFill>
                  <a:srgbClr val="1A1A1A"/>
                </a:solidFill>
                <a:latin typeface="DejaVu Sans"/>
              </a:rPr>
              <a:t>- OpenAlex splits some people across profiles and merges others with namesakes, which tilts the cohort toward distinctive names.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